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6" r:id="rId2"/>
    <p:sldId id="257" r:id="rId3"/>
    <p:sldId id="264" r:id="rId4"/>
    <p:sldId id="258" r:id="rId5"/>
    <p:sldId id="266" r:id="rId6"/>
    <p:sldId id="282" r:id="rId7"/>
    <p:sldId id="268" r:id="rId8"/>
    <p:sldId id="269" r:id="rId9"/>
    <p:sldId id="271" r:id="rId10"/>
    <p:sldId id="279" r:id="rId11"/>
    <p:sldId id="283" r:id="rId12"/>
    <p:sldId id="277" r:id="rId13"/>
    <p:sldId id="275" r:id="rId14"/>
    <p:sldId id="278" r:id="rId15"/>
    <p:sldId id="274" r:id="rId16"/>
    <p:sldId id="280" r:id="rId17"/>
    <p:sldId id="281" r:id="rId18"/>
  </p:sldIdLst>
  <p:sldSz cx="12192000" cy="6858000"/>
  <p:notesSz cx="7010400" cy="92360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4C3FD"/>
    <a:srgbClr val="AFADFD"/>
    <a:srgbClr val="15F3AE"/>
    <a:srgbClr val="93FFC4"/>
    <a:srgbClr val="94FADA"/>
    <a:srgbClr val="FFB9D0"/>
    <a:srgbClr val="FF6D9E"/>
    <a:srgbClr val="70F8CE"/>
    <a:srgbClr val="09FF78"/>
    <a:srgbClr val="5AF87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934" autoAdjust="0"/>
    <p:restoredTop sz="93690" autoAdjust="0"/>
  </p:normalViewPr>
  <p:slideViewPr>
    <p:cSldViewPr snapToGrid="0">
      <p:cViewPr varScale="1">
        <p:scale>
          <a:sx n="66" d="100"/>
          <a:sy n="66" d="100"/>
        </p:scale>
        <p:origin x="900" y="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ang, Lena" userId="14b2f593-9aa1-4f65-95b5-467a8d2b3ace" providerId="ADAL" clId="{D6568289-2FC8-44DD-89D3-4E7F3FD0C340}"/>
    <pc:docChg chg="custSel delSld modSld sldOrd">
      <pc:chgData name="Wang, Lena" userId="14b2f593-9aa1-4f65-95b5-467a8d2b3ace" providerId="ADAL" clId="{D6568289-2FC8-44DD-89D3-4E7F3FD0C340}" dt="2024-06-27T19:11:24.439" v="215" actId="20577"/>
      <pc:docMkLst>
        <pc:docMk/>
      </pc:docMkLst>
      <pc:sldChg chg="del">
        <pc:chgData name="Wang, Lena" userId="14b2f593-9aa1-4f65-95b5-467a8d2b3ace" providerId="ADAL" clId="{D6568289-2FC8-44DD-89D3-4E7F3FD0C340}" dt="2024-06-27T19:06:03.207" v="5" actId="2696"/>
        <pc:sldMkLst>
          <pc:docMk/>
          <pc:sldMk cId="907967890" sldId="260"/>
        </pc:sldMkLst>
      </pc:sldChg>
      <pc:sldChg chg="del">
        <pc:chgData name="Wang, Lena" userId="14b2f593-9aa1-4f65-95b5-467a8d2b3ace" providerId="ADAL" clId="{D6568289-2FC8-44DD-89D3-4E7F3FD0C340}" dt="2024-06-27T19:06:00.117" v="4" actId="2696"/>
        <pc:sldMkLst>
          <pc:docMk/>
          <pc:sldMk cId="3868624865" sldId="272"/>
        </pc:sldMkLst>
      </pc:sldChg>
      <pc:sldChg chg="del">
        <pc:chgData name="Wang, Lena" userId="14b2f593-9aa1-4f65-95b5-467a8d2b3ace" providerId="ADAL" clId="{D6568289-2FC8-44DD-89D3-4E7F3FD0C340}" dt="2024-06-27T19:06:05.473" v="6" actId="2696"/>
        <pc:sldMkLst>
          <pc:docMk/>
          <pc:sldMk cId="812557612" sldId="273"/>
        </pc:sldMkLst>
      </pc:sldChg>
      <pc:sldChg chg="modSp mod">
        <pc:chgData name="Wang, Lena" userId="14b2f593-9aa1-4f65-95b5-467a8d2b3ace" providerId="ADAL" clId="{D6568289-2FC8-44DD-89D3-4E7F3FD0C340}" dt="2024-06-27T19:11:18.591" v="209" actId="1076"/>
        <pc:sldMkLst>
          <pc:docMk/>
          <pc:sldMk cId="493751985" sldId="275"/>
        </pc:sldMkLst>
        <pc:spChg chg="mod">
          <ac:chgData name="Wang, Lena" userId="14b2f593-9aa1-4f65-95b5-467a8d2b3ace" providerId="ADAL" clId="{D6568289-2FC8-44DD-89D3-4E7F3FD0C340}" dt="2024-06-27T19:11:18.591" v="209" actId="1076"/>
          <ac:spMkLst>
            <pc:docMk/>
            <pc:sldMk cId="493751985" sldId="275"/>
            <ac:spMk id="2" creationId="{88899629-16D8-3DB9-70F9-627422F1006E}"/>
          </ac:spMkLst>
        </pc:spChg>
      </pc:sldChg>
      <pc:sldChg chg="modSp mod">
        <pc:chgData name="Wang, Lena" userId="14b2f593-9aa1-4f65-95b5-467a8d2b3ace" providerId="ADAL" clId="{D6568289-2FC8-44DD-89D3-4E7F3FD0C340}" dt="2024-06-27T19:11:02.568" v="202" actId="20577"/>
        <pc:sldMkLst>
          <pc:docMk/>
          <pc:sldMk cId="223579316" sldId="277"/>
        </pc:sldMkLst>
        <pc:spChg chg="mod">
          <ac:chgData name="Wang, Lena" userId="14b2f593-9aa1-4f65-95b5-467a8d2b3ace" providerId="ADAL" clId="{D6568289-2FC8-44DD-89D3-4E7F3FD0C340}" dt="2024-06-27T19:11:02.568" v="202" actId="20577"/>
          <ac:spMkLst>
            <pc:docMk/>
            <pc:sldMk cId="223579316" sldId="277"/>
            <ac:spMk id="2" creationId="{92710206-1B87-8331-4B53-9BE2E15DC290}"/>
          </ac:spMkLst>
        </pc:spChg>
      </pc:sldChg>
      <pc:sldChg chg="modSp mod ord">
        <pc:chgData name="Wang, Lena" userId="14b2f593-9aa1-4f65-95b5-467a8d2b3ace" providerId="ADAL" clId="{D6568289-2FC8-44DD-89D3-4E7F3FD0C340}" dt="2024-06-27T19:11:24.439" v="215" actId="20577"/>
        <pc:sldMkLst>
          <pc:docMk/>
          <pc:sldMk cId="1517644725" sldId="278"/>
        </pc:sldMkLst>
        <pc:spChg chg="mod">
          <ac:chgData name="Wang, Lena" userId="14b2f593-9aa1-4f65-95b5-467a8d2b3ace" providerId="ADAL" clId="{D6568289-2FC8-44DD-89D3-4E7F3FD0C340}" dt="2024-06-27T19:11:24.439" v="215" actId="20577"/>
          <ac:spMkLst>
            <pc:docMk/>
            <pc:sldMk cId="1517644725" sldId="278"/>
            <ac:spMk id="2" creationId="{7DE05691-70DF-1E32-6AEE-7CC82006E145}"/>
          </ac:spMkLst>
        </pc:spChg>
      </pc:sldChg>
      <pc:sldChg chg="modSp mod">
        <pc:chgData name="Wang, Lena" userId="14b2f593-9aa1-4f65-95b5-467a8d2b3ace" providerId="ADAL" clId="{D6568289-2FC8-44DD-89D3-4E7F3FD0C340}" dt="2024-06-27T19:10:34.973" v="188" actId="404"/>
        <pc:sldMkLst>
          <pc:docMk/>
          <pc:sldMk cId="4221747176" sldId="280"/>
        </pc:sldMkLst>
        <pc:graphicFrameChg chg="modGraphic">
          <ac:chgData name="Wang, Lena" userId="14b2f593-9aa1-4f65-95b5-467a8d2b3ace" providerId="ADAL" clId="{D6568289-2FC8-44DD-89D3-4E7F3FD0C340}" dt="2024-06-27T19:10:34.973" v="188" actId="404"/>
          <ac:graphicFrameMkLst>
            <pc:docMk/>
            <pc:sldMk cId="4221747176" sldId="280"/>
            <ac:graphicFrameMk id="6" creationId="{D0E1F07F-30AE-8EE9-A613-5391108A7A0F}"/>
          </ac:graphicFrameMkLst>
        </pc:graphicFrameChg>
      </pc:sldChg>
      <pc:sldChg chg="modSp mod ord">
        <pc:chgData name="Wang, Lena" userId="14b2f593-9aa1-4f65-95b5-467a8d2b3ace" providerId="ADAL" clId="{D6568289-2FC8-44DD-89D3-4E7F3FD0C340}" dt="2024-06-27T19:10:54.114" v="194" actId="20577"/>
        <pc:sldMkLst>
          <pc:docMk/>
          <pc:sldMk cId="1077991980" sldId="283"/>
        </pc:sldMkLst>
        <pc:spChg chg="mod">
          <ac:chgData name="Wang, Lena" userId="14b2f593-9aa1-4f65-95b5-467a8d2b3ace" providerId="ADAL" clId="{D6568289-2FC8-44DD-89D3-4E7F3FD0C340}" dt="2024-06-27T19:10:54.114" v="194" actId="20577"/>
          <ac:spMkLst>
            <pc:docMk/>
            <pc:sldMk cId="1077991980" sldId="283"/>
            <ac:spMk id="2" creationId="{219C8B7D-B583-7429-74F6-F5BEC558B9D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037840" cy="463407"/>
          </a:xfrm>
          <a:prstGeom prst="rect">
            <a:avLst/>
          </a:prstGeom>
        </p:spPr>
        <p:txBody>
          <a:bodyPr vert="horz" lIns="92824" tIns="46412" rIns="92824" bIns="46412" rtlCol="0"/>
          <a:lstStyle>
            <a:lvl1pPr algn="l">
              <a:defRPr sz="1200"/>
            </a:lvl1pPr>
          </a:lstStyle>
          <a:p>
            <a:endParaRPr lang="en-US"/>
          </a:p>
        </p:txBody>
      </p:sp>
      <p:sp>
        <p:nvSpPr>
          <p:cNvPr id="3" name="Date Placeholder 2"/>
          <p:cNvSpPr>
            <a:spLocks noGrp="1"/>
          </p:cNvSpPr>
          <p:nvPr>
            <p:ph type="dt" idx="1"/>
          </p:nvPr>
        </p:nvSpPr>
        <p:spPr>
          <a:xfrm>
            <a:off x="3970938" y="1"/>
            <a:ext cx="3037840" cy="463407"/>
          </a:xfrm>
          <a:prstGeom prst="rect">
            <a:avLst/>
          </a:prstGeom>
        </p:spPr>
        <p:txBody>
          <a:bodyPr vert="horz" lIns="92824" tIns="46412" rIns="92824" bIns="46412" rtlCol="0"/>
          <a:lstStyle>
            <a:lvl1pPr algn="r">
              <a:defRPr sz="1200"/>
            </a:lvl1pPr>
          </a:lstStyle>
          <a:p>
            <a:fld id="{FD747867-2E37-4C1D-BF99-2526E6102BB7}" type="datetimeFigureOut">
              <a:rPr lang="en-US" smtClean="0"/>
              <a:t>6/25/2024</a:t>
            </a:fld>
            <a:endParaRPr lang="en-US"/>
          </a:p>
        </p:txBody>
      </p:sp>
      <p:sp>
        <p:nvSpPr>
          <p:cNvPr id="4" name="Slide Image Placeholder 3"/>
          <p:cNvSpPr>
            <a:spLocks noGrp="1" noRot="1" noChangeAspect="1"/>
          </p:cNvSpPr>
          <p:nvPr>
            <p:ph type="sldImg" idx="2"/>
          </p:nvPr>
        </p:nvSpPr>
        <p:spPr>
          <a:xfrm>
            <a:off x="735013" y="1154113"/>
            <a:ext cx="5540375" cy="3117850"/>
          </a:xfrm>
          <a:prstGeom prst="rect">
            <a:avLst/>
          </a:prstGeom>
          <a:noFill/>
          <a:ln w="12700">
            <a:solidFill>
              <a:prstClr val="black"/>
            </a:solidFill>
          </a:ln>
        </p:spPr>
        <p:txBody>
          <a:bodyPr vert="horz" lIns="92824" tIns="46412" rIns="92824" bIns="46412" rtlCol="0" anchor="ctr"/>
          <a:lstStyle/>
          <a:p>
            <a:endParaRPr lang="en-US"/>
          </a:p>
        </p:txBody>
      </p:sp>
      <p:sp>
        <p:nvSpPr>
          <p:cNvPr id="5" name="Notes Placeholder 4"/>
          <p:cNvSpPr>
            <a:spLocks noGrp="1"/>
          </p:cNvSpPr>
          <p:nvPr>
            <p:ph type="body" sz="quarter" idx="3"/>
          </p:nvPr>
        </p:nvSpPr>
        <p:spPr>
          <a:xfrm>
            <a:off x="701040" y="4444861"/>
            <a:ext cx="5608320" cy="3636705"/>
          </a:xfrm>
          <a:prstGeom prst="rect">
            <a:avLst/>
          </a:prstGeom>
        </p:spPr>
        <p:txBody>
          <a:bodyPr vert="horz" lIns="92824" tIns="46412" rIns="92824" bIns="46412"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772669"/>
            <a:ext cx="3037840" cy="463406"/>
          </a:xfrm>
          <a:prstGeom prst="rect">
            <a:avLst/>
          </a:prstGeom>
        </p:spPr>
        <p:txBody>
          <a:bodyPr vert="horz" lIns="92824" tIns="46412" rIns="92824" bIns="46412"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772669"/>
            <a:ext cx="3037840" cy="463406"/>
          </a:xfrm>
          <a:prstGeom prst="rect">
            <a:avLst/>
          </a:prstGeom>
        </p:spPr>
        <p:txBody>
          <a:bodyPr vert="horz" lIns="92824" tIns="46412" rIns="92824" bIns="46412" rtlCol="0" anchor="b"/>
          <a:lstStyle>
            <a:lvl1pPr algn="r">
              <a:defRPr sz="1200"/>
            </a:lvl1pPr>
          </a:lstStyle>
          <a:p>
            <a:fld id="{A9E66CCC-043D-4BBE-9C19-43E1D64C80F8}" type="slidenum">
              <a:rPr lang="en-US" smtClean="0"/>
              <a:t>‹#›</a:t>
            </a:fld>
            <a:endParaRPr lang="en-US"/>
          </a:p>
        </p:txBody>
      </p:sp>
    </p:spTree>
    <p:extLst>
      <p:ext uri="{BB962C8B-B14F-4D97-AF65-F5344CB8AC3E}">
        <p14:creationId xmlns:p14="http://schemas.microsoft.com/office/powerpoint/2010/main" val="42407599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fine textured soil, cover cropping and conventional till saw a 4.8% increase compared to cover cropping with NT practices, primarily studies in shorter term projects</a:t>
            </a:r>
          </a:p>
        </p:txBody>
      </p:sp>
      <p:sp>
        <p:nvSpPr>
          <p:cNvPr id="4" name="Slide Number Placeholder 3"/>
          <p:cNvSpPr>
            <a:spLocks noGrp="1"/>
          </p:cNvSpPr>
          <p:nvPr>
            <p:ph type="sldNum" sz="quarter" idx="5"/>
          </p:nvPr>
        </p:nvSpPr>
        <p:spPr/>
        <p:txBody>
          <a:bodyPr/>
          <a:lstStyle/>
          <a:p>
            <a:fld id="{A9E66CCC-043D-4BBE-9C19-43E1D64C80F8}" type="slidenum">
              <a:rPr lang="en-US" smtClean="0"/>
              <a:t>1</a:t>
            </a:fld>
            <a:endParaRPr lang="en-US"/>
          </a:p>
        </p:txBody>
      </p:sp>
    </p:spTree>
    <p:extLst>
      <p:ext uri="{BB962C8B-B14F-4D97-AF65-F5344CB8AC3E}">
        <p14:creationId xmlns:p14="http://schemas.microsoft.com/office/powerpoint/2010/main" val="36115434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9E66CCC-043D-4BBE-9C19-43E1D64C80F8}" type="slidenum">
              <a:rPr lang="en-US" smtClean="0"/>
              <a:t>2</a:t>
            </a:fld>
            <a:endParaRPr lang="en-US"/>
          </a:p>
        </p:txBody>
      </p:sp>
    </p:spTree>
    <p:extLst>
      <p:ext uri="{BB962C8B-B14F-4D97-AF65-F5344CB8AC3E}">
        <p14:creationId xmlns:p14="http://schemas.microsoft.com/office/powerpoint/2010/main" val="29492459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 % Carbon but more of it is extractable. </a:t>
            </a:r>
          </a:p>
          <a:p>
            <a:endParaRPr lang="en-US" dirty="0"/>
          </a:p>
          <a:p>
            <a:r>
              <a:rPr lang="en-US" dirty="0"/>
              <a:t>Perhaps more the and carbon and organic matter has died off and therefore is more extractable. Perhaps we are seeing winter decomposition, and the organic matter decrease is organic matter that decomposed and then got washed out of the system. </a:t>
            </a:r>
          </a:p>
        </p:txBody>
      </p:sp>
      <p:sp>
        <p:nvSpPr>
          <p:cNvPr id="4" name="Slide Number Placeholder 3"/>
          <p:cNvSpPr>
            <a:spLocks noGrp="1"/>
          </p:cNvSpPr>
          <p:nvPr>
            <p:ph type="sldNum" sz="quarter" idx="5"/>
          </p:nvPr>
        </p:nvSpPr>
        <p:spPr/>
        <p:txBody>
          <a:bodyPr/>
          <a:lstStyle/>
          <a:p>
            <a:fld id="{A9E66CCC-043D-4BBE-9C19-43E1D64C80F8}" type="slidenum">
              <a:rPr lang="en-US" smtClean="0"/>
              <a:t>3</a:t>
            </a:fld>
            <a:endParaRPr lang="en-US"/>
          </a:p>
        </p:txBody>
      </p:sp>
    </p:spTree>
    <p:extLst>
      <p:ext uri="{BB962C8B-B14F-4D97-AF65-F5344CB8AC3E}">
        <p14:creationId xmlns:p14="http://schemas.microsoft.com/office/powerpoint/2010/main" val="9442330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did the CEC increase? Could this be a temperature thing instead? Because we’ve seen a decrease in OM. </a:t>
            </a:r>
          </a:p>
        </p:txBody>
      </p:sp>
      <p:sp>
        <p:nvSpPr>
          <p:cNvPr id="4" name="Slide Number Placeholder 3"/>
          <p:cNvSpPr>
            <a:spLocks noGrp="1"/>
          </p:cNvSpPr>
          <p:nvPr>
            <p:ph type="sldNum" sz="quarter" idx="5"/>
          </p:nvPr>
        </p:nvSpPr>
        <p:spPr/>
        <p:txBody>
          <a:bodyPr/>
          <a:lstStyle/>
          <a:p>
            <a:fld id="{A9E66CCC-043D-4BBE-9C19-43E1D64C80F8}" type="slidenum">
              <a:rPr lang="en-US" smtClean="0"/>
              <a:t>4</a:t>
            </a:fld>
            <a:endParaRPr lang="en-US"/>
          </a:p>
        </p:txBody>
      </p:sp>
    </p:spTree>
    <p:extLst>
      <p:ext uri="{BB962C8B-B14F-4D97-AF65-F5344CB8AC3E}">
        <p14:creationId xmlns:p14="http://schemas.microsoft.com/office/powerpoint/2010/main" val="37687497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Aggregate stability for protozoa biomass, because protozoa have to swim through the soils? 55 degrees for good PLFA analysis. </a:t>
            </a:r>
          </a:p>
        </p:txBody>
      </p:sp>
      <p:sp>
        <p:nvSpPr>
          <p:cNvPr id="4" name="Slide Number Placeholder 3"/>
          <p:cNvSpPr>
            <a:spLocks noGrp="1"/>
          </p:cNvSpPr>
          <p:nvPr>
            <p:ph type="sldNum" sz="quarter" idx="5"/>
          </p:nvPr>
        </p:nvSpPr>
        <p:spPr/>
        <p:txBody>
          <a:bodyPr/>
          <a:lstStyle/>
          <a:p>
            <a:fld id="{A9E66CCC-043D-4BBE-9C19-43E1D64C80F8}" type="slidenum">
              <a:rPr lang="en-US" smtClean="0"/>
              <a:t>14</a:t>
            </a:fld>
            <a:endParaRPr lang="en-US"/>
          </a:p>
        </p:txBody>
      </p:sp>
    </p:spTree>
    <p:extLst>
      <p:ext uri="{BB962C8B-B14F-4D97-AF65-F5344CB8AC3E}">
        <p14:creationId xmlns:p14="http://schemas.microsoft.com/office/powerpoint/2010/main" val="37477666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Rossville near Kansas river, different fall winter pattern. Corning 2NW are different, cold and warm fronts moving around. Having more local information, collecting that data when going out sampling is going to be a key factor. Send the slides around – Shane. WEOC, Carbon, Biomass next to each other. </a:t>
            </a:r>
          </a:p>
          <a:p>
            <a:r>
              <a:rPr lang="en-US" dirty="0"/>
              <a:t>Protozoa and water stable aggregates next to each other. </a:t>
            </a:r>
          </a:p>
          <a:p>
            <a:endParaRPr lang="en-US" dirty="0"/>
          </a:p>
        </p:txBody>
      </p:sp>
      <p:sp>
        <p:nvSpPr>
          <p:cNvPr id="4" name="Slide Number Placeholder 3"/>
          <p:cNvSpPr>
            <a:spLocks noGrp="1"/>
          </p:cNvSpPr>
          <p:nvPr>
            <p:ph type="sldNum" sz="quarter" idx="5"/>
          </p:nvPr>
        </p:nvSpPr>
        <p:spPr/>
        <p:txBody>
          <a:bodyPr/>
          <a:lstStyle/>
          <a:p>
            <a:fld id="{A9E66CCC-043D-4BBE-9C19-43E1D64C80F8}" type="slidenum">
              <a:rPr lang="en-US" smtClean="0"/>
              <a:t>16</a:t>
            </a:fld>
            <a:endParaRPr lang="en-US"/>
          </a:p>
        </p:txBody>
      </p:sp>
    </p:spTree>
    <p:extLst>
      <p:ext uri="{BB962C8B-B14F-4D97-AF65-F5344CB8AC3E}">
        <p14:creationId xmlns:p14="http://schemas.microsoft.com/office/powerpoint/2010/main" val="16679407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2AF84E-9315-3F99-8ABF-470C9BFE99B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901808E-D0DB-BF2A-7ADB-D0374C9D134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DF66EB5-38E9-4CF2-835F-67256F3DC501}"/>
              </a:ext>
            </a:extLst>
          </p:cNvPr>
          <p:cNvSpPr>
            <a:spLocks noGrp="1"/>
          </p:cNvSpPr>
          <p:nvPr>
            <p:ph type="dt" sz="half" idx="10"/>
          </p:nvPr>
        </p:nvSpPr>
        <p:spPr/>
        <p:txBody>
          <a:bodyPr/>
          <a:lstStyle/>
          <a:p>
            <a:fld id="{9757B060-F245-4517-81B2-E58371465A7C}" type="datetimeFigureOut">
              <a:rPr lang="en-US" smtClean="0"/>
              <a:t>6/25/2024</a:t>
            </a:fld>
            <a:endParaRPr lang="en-US"/>
          </a:p>
        </p:txBody>
      </p:sp>
      <p:sp>
        <p:nvSpPr>
          <p:cNvPr id="5" name="Footer Placeholder 4">
            <a:extLst>
              <a:ext uri="{FF2B5EF4-FFF2-40B4-BE49-F238E27FC236}">
                <a16:creationId xmlns:a16="http://schemas.microsoft.com/office/drawing/2014/main" id="{94F543E2-BB37-A555-1977-4C1E02A36D3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625DC10-D232-137A-817A-4926E3D35F9F}"/>
              </a:ext>
            </a:extLst>
          </p:cNvPr>
          <p:cNvSpPr>
            <a:spLocks noGrp="1"/>
          </p:cNvSpPr>
          <p:nvPr>
            <p:ph type="sldNum" sz="quarter" idx="12"/>
          </p:nvPr>
        </p:nvSpPr>
        <p:spPr/>
        <p:txBody>
          <a:bodyPr/>
          <a:lstStyle/>
          <a:p>
            <a:fld id="{059012C9-60F5-4D54-9B61-D6D8AF06A8E5}" type="slidenum">
              <a:rPr lang="en-US" smtClean="0"/>
              <a:t>‹#›</a:t>
            </a:fld>
            <a:endParaRPr lang="en-US"/>
          </a:p>
        </p:txBody>
      </p:sp>
    </p:spTree>
    <p:extLst>
      <p:ext uri="{BB962C8B-B14F-4D97-AF65-F5344CB8AC3E}">
        <p14:creationId xmlns:p14="http://schemas.microsoft.com/office/powerpoint/2010/main" val="16668143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7B572-69E2-A4BC-AB4A-771F7013D7D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4F24AEB-7D79-5D29-F7AE-0616CB4F0BB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20C1376-CEF4-B0DA-B85D-1BD5DF6E4BDC}"/>
              </a:ext>
            </a:extLst>
          </p:cNvPr>
          <p:cNvSpPr>
            <a:spLocks noGrp="1"/>
          </p:cNvSpPr>
          <p:nvPr>
            <p:ph type="dt" sz="half" idx="10"/>
          </p:nvPr>
        </p:nvSpPr>
        <p:spPr/>
        <p:txBody>
          <a:bodyPr/>
          <a:lstStyle/>
          <a:p>
            <a:fld id="{9757B060-F245-4517-81B2-E58371465A7C}" type="datetimeFigureOut">
              <a:rPr lang="en-US" smtClean="0"/>
              <a:t>6/25/2024</a:t>
            </a:fld>
            <a:endParaRPr lang="en-US"/>
          </a:p>
        </p:txBody>
      </p:sp>
      <p:sp>
        <p:nvSpPr>
          <p:cNvPr id="5" name="Footer Placeholder 4">
            <a:extLst>
              <a:ext uri="{FF2B5EF4-FFF2-40B4-BE49-F238E27FC236}">
                <a16:creationId xmlns:a16="http://schemas.microsoft.com/office/drawing/2014/main" id="{0D55E78D-9740-1EA9-A100-AB992226E0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44597A6-470D-D877-06F8-F0B2AF26DDBF}"/>
              </a:ext>
            </a:extLst>
          </p:cNvPr>
          <p:cNvSpPr>
            <a:spLocks noGrp="1"/>
          </p:cNvSpPr>
          <p:nvPr>
            <p:ph type="sldNum" sz="quarter" idx="12"/>
          </p:nvPr>
        </p:nvSpPr>
        <p:spPr/>
        <p:txBody>
          <a:bodyPr/>
          <a:lstStyle/>
          <a:p>
            <a:fld id="{059012C9-60F5-4D54-9B61-D6D8AF06A8E5}" type="slidenum">
              <a:rPr lang="en-US" smtClean="0"/>
              <a:t>‹#›</a:t>
            </a:fld>
            <a:endParaRPr lang="en-US"/>
          </a:p>
        </p:txBody>
      </p:sp>
    </p:spTree>
    <p:extLst>
      <p:ext uri="{BB962C8B-B14F-4D97-AF65-F5344CB8AC3E}">
        <p14:creationId xmlns:p14="http://schemas.microsoft.com/office/powerpoint/2010/main" val="27721990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25AE2E-1A34-8C79-E22B-64D3CA505E3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83B7A34-19D9-1FF0-C177-04BE1CEF53A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1180E44-17CC-1F46-05AB-543351FB360D}"/>
              </a:ext>
            </a:extLst>
          </p:cNvPr>
          <p:cNvSpPr>
            <a:spLocks noGrp="1"/>
          </p:cNvSpPr>
          <p:nvPr>
            <p:ph type="dt" sz="half" idx="10"/>
          </p:nvPr>
        </p:nvSpPr>
        <p:spPr/>
        <p:txBody>
          <a:bodyPr/>
          <a:lstStyle/>
          <a:p>
            <a:fld id="{9757B060-F245-4517-81B2-E58371465A7C}" type="datetimeFigureOut">
              <a:rPr lang="en-US" smtClean="0"/>
              <a:t>6/25/2024</a:t>
            </a:fld>
            <a:endParaRPr lang="en-US"/>
          </a:p>
        </p:txBody>
      </p:sp>
      <p:sp>
        <p:nvSpPr>
          <p:cNvPr id="5" name="Footer Placeholder 4">
            <a:extLst>
              <a:ext uri="{FF2B5EF4-FFF2-40B4-BE49-F238E27FC236}">
                <a16:creationId xmlns:a16="http://schemas.microsoft.com/office/drawing/2014/main" id="{446B7273-C54F-C84D-AB66-169FE23B704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37719A-2042-1DE4-BD76-E9F60AAE8D38}"/>
              </a:ext>
            </a:extLst>
          </p:cNvPr>
          <p:cNvSpPr>
            <a:spLocks noGrp="1"/>
          </p:cNvSpPr>
          <p:nvPr>
            <p:ph type="sldNum" sz="quarter" idx="12"/>
          </p:nvPr>
        </p:nvSpPr>
        <p:spPr/>
        <p:txBody>
          <a:bodyPr/>
          <a:lstStyle/>
          <a:p>
            <a:fld id="{059012C9-60F5-4D54-9B61-D6D8AF06A8E5}" type="slidenum">
              <a:rPr lang="en-US" smtClean="0"/>
              <a:t>‹#›</a:t>
            </a:fld>
            <a:endParaRPr lang="en-US"/>
          </a:p>
        </p:txBody>
      </p:sp>
    </p:spTree>
    <p:extLst>
      <p:ext uri="{BB962C8B-B14F-4D97-AF65-F5344CB8AC3E}">
        <p14:creationId xmlns:p14="http://schemas.microsoft.com/office/powerpoint/2010/main" val="8711107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B22748-4ED6-0D6A-831B-AD63BEC63A3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026FF8A-949B-77B5-7D0F-657FC5F64D9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C610E14-D42F-8797-3B28-E15DF06409B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5BF449A-4C25-85A7-1B72-9C48AD347025}"/>
              </a:ext>
            </a:extLst>
          </p:cNvPr>
          <p:cNvSpPr>
            <a:spLocks noGrp="1"/>
          </p:cNvSpPr>
          <p:nvPr>
            <p:ph type="dt" sz="half" idx="10"/>
          </p:nvPr>
        </p:nvSpPr>
        <p:spPr/>
        <p:txBody>
          <a:bodyPr/>
          <a:lstStyle/>
          <a:p>
            <a:fld id="{9757B060-F245-4517-81B2-E58371465A7C}" type="datetimeFigureOut">
              <a:rPr lang="en-US" smtClean="0"/>
              <a:t>6/25/2024</a:t>
            </a:fld>
            <a:endParaRPr lang="en-US"/>
          </a:p>
        </p:txBody>
      </p:sp>
      <p:sp>
        <p:nvSpPr>
          <p:cNvPr id="6" name="Footer Placeholder 5">
            <a:extLst>
              <a:ext uri="{FF2B5EF4-FFF2-40B4-BE49-F238E27FC236}">
                <a16:creationId xmlns:a16="http://schemas.microsoft.com/office/drawing/2014/main" id="{55D64852-BC10-BCB8-52D7-B99075D7CAE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13643A1-A5A1-24B4-D223-ECB791CBB56D}"/>
              </a:ext>
            </a:extLst>
          </p:cNvPr>
          <p:cNvSpPr>
            <a:spLocks noGrp="1"/>
          </p:cNvSpPr>
          <p:nvPr>
            <p:ph type="sldNum" sz="quarter" idx="12"/>
          </p:nvPr>
        </p:nvSpPr>
        <p:spPr/>
        <p:txBody>
          <a:bodyPr/>
          <a:lstStyle/>
          <a:p>
            <a:fld id="{059012C9-60F5-4D54-9B61-D6D8AF06A8E5}" type="slidenum">
              <a:rPr lang="en-US" smtClean="0"/>
              <a:t>‹#›</a:t>
            </a:fld>
            <a:endParaRPr lang="en-US"/>
          </a:p>
        </p:txBody>
      </p:sp>
    </p:spTree>
    <p:extLst>
      <p:ext uri="{BB962C8B-B14F-4D97-AF65-F5344CB8AC3E}">
        <p14:creationId xmlns:p14="http://schemas.microsoft.com/office/powerpoint/2010/main" val="16980135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6A4B1A-38C5-4481-0193-3014F440043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C28FFB0-410E-3F30-0EA2-C6869BE6C02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EE9E3C0-C807-C919-6D2D-2231843E1FC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26B9261-1112-4575-ABC1-ADCA37B836B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E8C0B31-CD13-1778-5A54-EF74855495C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AEAA4C9-4CD6-5442-833F-2100DDD3F8D7}"/>
              </a:ext>
            </a:extLst>
          </p:cNvPr>
          <p:cNvSpPr>
            <a:spLocks noGrp="1"/>
          </p:cNvSpPr>
          <p:nvPr>
            <p:ph type="dt" sz="half" idx="10"/>
          </p:nvPr>
        </p:nvSpPr>
        <p:spPr/>
        <p:txBody>
          <a:bodyPr/>
          <a:lstStyle/>
          <a:p>
            <a:fld id="{9757B060-F245-4517-81B2-E58371465A7C}" type="datetimeFigureOut">
              <a:rPr lang="en-US" smtClean="0"/>
              <a:t>6/25/2024</a:t>
            </a:fld>
            <a:endParaRPr lang="en-US"/>
          </a:p>
        </p:txBody>
      </p:sp>
      <p:sp>
        <p:nvSpPr>
          <p:cNvPr id="8" name="Footer Placeholder 7">
            <a:extLst>
              <a:ext uri="{FF2B5EF4-FFF2-40B4-BE49-F238E27FC236}">
                <a16:creationId xmlns:a16="http://schemas.microsoft.com/office/drawing/2014/main" id="{6365C611-E9C4-5BE1-58E5-6EE038F8000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9B0DE3E-06B6-51CD-B3AF-06339F1F90F9}"/>
              </a:ext>
            </a:extLst>
          </p:cNvPr>
          <p:cNvSpPr>
            <a:spLocks noGrp="1"/>
          </p:cNvSpPr>
          <p:nvPr>
            <p:ph type="sldNum" sz="quarter" idx="12"/>
          </p:nvPr>
        </p:nvSpPr>
        <p:spPr/>
        <p:txBody>
          <a:bodyPr/>
          <a:lstStyle/>
          <a:p>
            <a:fld id="{059012C9-60F5-4D54-9B61-D6D8AF06A8E5}" type="slidenum">
              <a:rPr lang="en-US" smtClean="0"/>
              <a:t>‹#›</a:t>
            </a:fld>
            <a:endParaRPr lang="en-US"/>
          </a:p>
        </p:txBody>
      </p:sp>
    </p:spTree>
    <p:extLst>
      <p:ext uri="{BB962C8B-B14F-4D97-AF65-F5344CB8AC3E}">
        <p14:creationId xmlns:p14="http://schemas.microsoft.com/office/powerpoint/2010/main" val="14679982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737FBF-FB94-ECB1-5834-BDCC417BC34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88EA6F8-F238-81A9-524E-97F72578AB2A}"/>
              </a:ext>
            </a:extLst>
          </p:cNvPr>
          <p:cNvSpPr>
            <a:spLocks noGrp="1"/>
          </p:cNvSpPr>
          <p:nvPr>
            <p:ph type="dt" sz="half" idx="10"/>
          </p:nvPr>
        </p:nvSpPr>
        <p:spPr/>
        <p:txBody>
          <a:bodyPr/>
          <a:lstStyle/>
          <a:p>
            <a:fld id="{9757B060-F245-4517-81B2-E58371465A7C}" type="datetimeFigureOut">
              <a:rPr lang="en-US" smtClean="0"/>
              <a:t>6/25/2024</a:t>
            </a:fld>
            <a:endParaRPr lang="en-US"/>
          </a:p>
        </p:txBody>
      </p:sp>
      <p:sp>
        <p:nvSpPr>
          <p:cNvPr id="4" name="Footer Placeholder 3">
            <a:extLst>
              <a:ext uri="{FF2B5EF4-FFF2-40B4-BE49-F238E27FC236}">
                <a16:creationId xmlns:a16="http://schemas.microsoft.com/office/drawing/2014/main" id="{FF8C9EC9-9DEC-4BE5-A9E6-C967CA3D306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3507884-0E17-0D2A-7F0A-43DBDFA8CD33}"/>
              </a:ext>
            </a:extLst>
          </p:cNvPr>
          <p:cNvSpPr>
            <a:spLocks noGrp="1"/>
          </p:cNvSpPr>
          <p:nvPr>
            <p:ph type="sldNum" sz="quarter" idx="12"/>
          </p:nvPr>
        </p:nvSpPr>
        <p:spPr/>
        <p:txBody>
          <a:bodyPr/>
          <a:lstStyle/>
          <a:p>
            <a:fld id="{059012C9-60F5-4D54-9B61-D6D8AF06A8E5}" type="slidenum">
              <a:rPr lang="en-US" smtClean="0"/>
              <a:t>‹#›</a:t>
            </a:fld>
            <a:endParaRPr lang="en-US"/>
          </a:p>
        </p:txBody>
      </p:sp>
    </p:spTree>
    <p:extLst>
      <p:ext uri="{BB962C8B-B14F-4D97-AF65-F5344CB8AC3E}">
        <p14:creationId xmlns:p14="http://schemas.microsoft.com/office/powerpoint/2010/main" val="807555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C063C08-25DC-2288-A805-136F148BA5F2}"/>
              </a:ext>
            </a:extLst>
          </p:cNvPr>
          <p:cNvSpPr>
            <a:spLocks noGrp="1"/>
          </p:cNvSpPr>
          <p:nvPr>
            <p:ph type="dt" sz="half" idx="10"/>
          </p:nvPr>
        </p:nvSpPr>
        <p:spPr/>
        <p:txBody>
          <a:bodyPr/>
          <a:lstStyle/>
          <a:p>
            <a:fld id="{9757B060-F245-4517-81B2-E58371465A7C}" type="datetimeFigureOut">
              <a:rPr lang="en-US" smtClean="0"/>
              <a:t>6/25/2024</a:t>
            </a:fld>
            <a:endParaRPr lang="en-US"/>
          </a:p>
        </p:txBody>
      </p:sp>
      <p:sp>
        <p:nvSpPr>
          <p:cNvPr id="3" name="Footer Placeholder 2">
            <a:extLst>
              <a:ext uri="{FF2B5EF4-FFF2-40B4-BE49-F238E27FC236}">
                <a16:creationId xmlns:a16="http://schemas.microsoft.com/office/drawing/2014/main" id="{3E5E37EF-255F-2C13-9D89-81C8678B7DC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EF183D1-9AD9-8398-F001-F88BD7EC0DB3}"/>
              </a:ext>
            </a:extLst>
          </p:cNvPr>
          <p:cNvSpPr>
            <a:spLocks noGrp="1"/>
          </p:cNvSpPr>
          <p:nvPr>
            <p:ph type="sldNum" sz="quarter" idx="12"/>
          </p:nvPr>
        </p:nvSpPr>
        <p:spPr/>
        <p:txBody>
          <a:bodyPr/>
          <a:lstStyle/>
          <a:p>
            <a:fld id="{059012C9-60F5-4D54-9B61-D6D8AF06A8E5}" type="slidenum">
              <a:rPr lang="en-US" smtClean="0"/>
              <a:t>‹#›</a:t>
            </a:fld>
            <a:endParaRPr lang="en-US"/>
          </a:p>
        </p:txBody>
      </p:sp>
    </p:spTree>
    <p:extLst>
      <p:ext uri="{BB962C8B-B14F-4D97-AF65-F5344CB8AC3E}">
        <p14:creationId xmlns:p14="http://schemas.microsoft.com/office/powerpoint/2010/main" val="2747731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797D2-BC0E-01FA-3DD6-967FA58BD40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C1094F5-98C0-52DF-2C0F-D50FC2F5B05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18A20D3-9960-DFDA-D183-0447578557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5CB794A-6249-EC76-D91A-C4F10C13FCF5}"/>
              </a:ext>
            </a:extLst>
          </p:cNvPr>
          <p:cNvSpPr>
            <a:spLocks noGrp="1"/>
          </p:cNvSpPr>
          <p:nvPr>
            <p:ph type="dt" sz="half" idx="10"/>
          </p:nvPr>
        </p:nvSpPr>
        <p:spPr/>
        <p:txBody>
          <a:bodyPr/>
          <a:lstStyle/>
          <a:p>
            <a:fld id="{9757B060-F245-4517-81B2-E58371465A7C}" type="datetimeFigureOut">
              <a:rPr lang="en-US" smtClean="0"/>
              <a:t>6/25/2024</a:t>
            </a:fld>
            <a:endParaRPr lang="en-US"/>
          </a:p>
        </p:txBody>
      </p:sp>
      <p:sp>
        <p:nvSpPr>
          <p:cNvPr id="6" name="Footer Placeholder 5">
            <a:extLst>
              <a:ext uri="{FF2B5EF4-FFF2-40B4-BE49-F238E27FC236}">
                <a16:creationId xmlns:a16="http://schemas.microsoft.com/office/drawing/2014/main" id="{B7F7636E-5BFC-89C8-DF30-B06CA5DF19E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E857F85-6307-4309-FC2F-EB6A2FCD72FD}"/>
              </a:ext>
            </a:extLst>
          </p:cNvPr>
          <p:cNvSpPr>
            <a:spLocks noGrp="1"/>
          </p:cNvSpPr>
          <p:nvPr>
            <p:ph type="sldNum" sz="quarter" idx="12"/>
          </p:nvPr>
        </p:nvSpPr>
        <p:spPr/>
        <p:txBody>
          <a:bodyPr/>
          <a:lstStyle/>
          <a:p>
            <a:fld id="{059012C9-60F5-4D54-9B61-D6D8AF06A8E5}" type="slidenum">
              <a:rPr lang="en-US" smtClean="0"/>
              <a:t>‹#›</a:t>
            </a:fld>
            <a:endParaRPr lang="en-US"/>
          </a:p>
        </p:txBody>
      </p:sp>
    </p:spTree>
    <p:extLst>
      <p:ext uri="{BB962C8B-B14F-4D97-AF65-F5344CB8AC3E}">
        <p14:creationId xmlns:p14="http://schemas.microsoft.com/office/powerpoint/2010/main" val="16808794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15FD20-187A-5F08-0CFC-B1B33C33ADF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A0F2B94-735B-7528-7D9C-1F854FBC37D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D6ECAB4-EBA6-B442-A291-08C06062326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EB7A853-ABC2-DD04-A01F-4FED4DA2BD22}"/>
              </a:ext>
            </a:extLst>
          </p:cNvPr>
          <p:cNvSpPr>
            <a:spLocks noGrp="1"/>
          </p:cNvSpPr>
          <p:nvPr>
            <p:ph type="dt" sz="half" idx="10"/>
          </p:nvPr>
        </p:nvSpPr>
        <p:spPr/>
        <p:txBody>
          <a:bodyPr/>
          <a:lstStyle/>
          <a:p>
            <a:fld id="{9757B060-F245-4517-81B2-E58371465A7C}" type="datetimeFigureOut">
              <a:rPr lang="en-US" smtClean="0"/>
              <a:t>6/25/2024</a:t>
            </a:fld>
            <a:endParaRPr lang="en-US"/>
          </a:p>
        </p:txBody>
      </p:sp>
      <p:sp>
        <p:nvSpPr>
          <p:cNvPr id="6" name="Footer Placeholder 5">
            <a:extLst>
              <a:ext uri="{FF2B5EF4-FFF2-40B4-BE49-F238E27FC236}">
                <a16:creationId xmlns:a16="http://schemas.microsoft.com/office/drawing/2014/main" id="{D5E1BB5B-866F-E3FB-8B7B-51DB268F342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D1CCB7E-DC0D-7E99-5D2C-C161DDDEA005}"/>
              </a:ext>
            </a:extLst>
          </p:cNvPr>
          <p:cNvSpPr>
            <a:spLocks noGrp="1"/>
          </p:cNvSpPr>
          <p:nvPr>
            <p:ph type="sldNum" sz="quarter" idx="12"/>
          </p:nvPr>
        </p:nvSpPr>
        <p:spPr/>
        <p:txBody>
          <a:bodyPr/>
          <a:lstStyle/>
          <a:p>
            <a:fld id="{059012C9-60F5-4D54-9B61-D6D8AF06A8E5}" type="slidenum">
              <a:rPr lang="en-US" smtClean="0"/>
              <a:t>‹#›</a:t>
            </a:fld>
            <a:endParaRPr lang="en-US"/>
          </a:p>
        </p:txBody>
      </p:sp>
    </p:spTree>
    <p:extLst>
      <p:ext uri="{BB962C8B-B14F-4D97-AF65-F5344CB8AC3E}">
        <p14:creationId xmlns:p14="http://schemas.microsoft.com/office/powerpoint/2010/main" val="15218906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AA73E8-7625-D984-E31C-6FE22BF39FF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E576691-F6F3-1A4A-C6A0-75C4D3E7469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7D97418-1CBF-79A2-A70E-A9839A83C718}"/>
              </a:ext>
            </a:extLst>
          </p:cNvPr>
          <p:cNvSpPr>
            <a:spLocks noGrp="1"/>
          </p:cNvSpPr>
          <p:nvPr>
            <p:ph type="dt" sz="half" idx="10"/>
          </p:nvPr>
        </p:nvSpPr>
        <p:spPr/>
        <p:txBody>
          <a:bodyPr/>
          <a:lstStyle/>
          <a:p>
            <a:fld id="{9757B060-F245-4517-81B2-E58371465A7C}" type="datetimeFigureOut">
              <a:rPr lang="en-US" smtClean="0"/>
              <a:t>6/25/2024</a:t>
            </a:fld>
            <a:endParaRPr lang="en-US"/>
          </a:p>
        </p:txBody>
      </p:sp>
      <p:sp>
        <p:nvSpPr>
          <p:cNvPr id="5" name="Footer Placeholder 4">
            <a:extLst>
              <a:ext uri="{FF2B5EF4-FFF2-40B4-BE49-F238E27FC236}">
                <a16:creationId xmlns:a16="http://schemas.microsoft.com/office/drawing/2014/main" id="{3938EEC1-B4AE-BE0F-D220-2DD0FA52F3E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828A5A-4A96-BDDB-F81C-30E2094DFBA0}"/>
              </a:ext>
            </a:extLst>
          </p:cNvPr>
          <p:cNvSpPr>
            <a:spLocks noGrp="1"/>
          </p:cNvSpPr>
          <p:nvPr>
            <p:ph type="sldNum" sz="quarter" idx="12"/>
          </p:nvPr>
        </p:nvSpPr>
        <p:spPr/>
        <p:txBody>
          <a:bodyPr/>
          <a:lstStyle/>
          <a:p>
            <a:fld id="{059012C9-60F5-4D54-9B61-D6D8AF06A8E5}" type="slidenum">
              <a:rPr lang="en-US" smtClean="0"/>
              <a:t>‹#›</a:t>
            </a:fld>
            <a:endParaRPr lang="en-US"/>
          </a:p>
        </p:txBody>
      </p:sp>
    </p:spTree>
    <p:extLst>
      <p:ext uri="{BB962C8B-B14F-4D97-AF65-F5344CB8AC3E}">
        <p14:creationId xmlns:p14="http://schemas.microsoft.com/office/powerpoint/2010/main" val="1058311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8DE4BAA-DF98-0C3F-2407-6E8C67CB3F2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C3D9A97-6209-E9CC-E7BB-643E414A184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313D0A-4D50-D799-1BB2-B72A66F2EE6D}"/>
              </a:ext>
            </a:extLst>
          </p:cNvPr>
          <p:cNvSpPr>
            <a:spLocks noGrp="1"/>
          </p:cNvSpPr>
          <p:nvPr>
            <p:ph type="dt" sz="half" idx="10"/>
          </p:nvPr>
        </p:nvSpPr>
        <p:spPr/>
        <p:txBody>
          <a:bodyPr/>
          <a:lstStyle/>
          <a:p>
            <a:fld id="{9757B060-F245-4517-81B2-E58371465A7C}" type="datetimeFigureOut">
              <a:rPr lang="en-US" smtClean="0"/>
              <a:t>6/25/2024</a:t>
            </a:fld>
            <a:endParaRPr lang="en-US"/>
          </a:p>
        </p:txBody>
      </p:sp>
      <p:sp>
        <p:nvSpPr>
          <p:cNvPr id="5" name="Footer Placeholder 4">
            <a:extLst>
              <a:ext uri="{FF2B5EF4-FFF2-40B4-BE49-F238E27FC236}">
                <a16:creationId xmlns:a16="http://schemas.microsoft.com/office/drawing/2014/main" id="{90EB327A-76A3-285D-CCF8-FA45F9A2781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409F9F-AB67-2F9A-ECF6-0FDEB8752D5F}"/>
              </a:ext>
            </a:extLst>
          </p:cNvPr>
          <p:cNvSpPr>
            <a:spLocks noGrp="1"/>
          </p:cNvSpPr>
          <p:nvPr>
            <p:ph type="sldNum" sz="quarter" idx="12"/>
          </p:nvPr>
        </p:nvSpPr>
        <p:spPr/>
        <p:txBody>
          <a:bodyPr/>
          <a:lstStyle/>
          <a:p>
            <a:fld id="{059012C9-60F5-4D54-9B61-D6D8AF06A8E5}" type="slidenum">
              <a:rPr lang="en-US" smtClean="0"/>
              <a:t>‹#›</a:t>
            </a:fld>
            <a:endParaRPr lang="en-US"/>
          </a:p>
        </p:txBody>
      </p:sp>
    </p:spTree>
    <p:extLst>
      <p:ext uri="{BB962C8B-B14F-4D97-AF65-F5344CB8AC3E}">
        <p14:creationId xmlns:p14="http://schemas.microsoft.com/office/powerpoint/2010/main" val="10441115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F8DB9C9-0105-83FA-4343-648F9F49175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0EA338C-26BB-C492-FB90-36337C8E2D5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030074-92EE-C555-A093-76C7D33E59F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757B060-F245-4517-81B2-E58371465A7C}" type="datetimeFigureOut">
              <a:rPr lang="en-US" smtClean="0"/>
              <a:t>6/25/2024</a:t>
            </a:fld>
            <a:endParaRPr lang="en-US"/>
          </a:p>
        </p:txBody>
      </p:sp>
      <p:sp>
        <p:nvSpPr>
          <p:cNvPr id="5" name="Footer Placeholder 4">
            <a:extLst>
              <a:ext uri="{FF2B5EF4-FFF2-40B4-BE49-F238E27FC236}">
                <a16:creationId xmlns:a16="http://schemas.microsoft.com/office/drawing/2014/main" id="{1FC3E8CC-AAE3-39E6-D411-14C3953FCAD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E917BE4-A34B-41B3-5BF9-44F11CD5E9D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59012C9-60F5-4D54-9B61-D6D8AF06A8E5}" type="slidenum">
              <a:rPr lang="en-US" smtClean="0"/>
              <a:t>‹#›</a:t>
            </a:fld>
            <a:endParaRPr lang="en-US"/>
          </a:p>
        </p:txBody>
      </p:sp>
    </p:spTree>
    <p:extLst>
      <p:ext uri="{BB962C8B-B14F-4D97-AF65-F5344CB8AC3E}">
        <p14:creationId xmlns:p14="http://schemas.microsoft.com/office/powerpoint/2010/main" val="34368330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6.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2.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12.png"/><Relationship Id="rId4" Type="http://schemas.openxmlformats.org/officeDocument/2006/relationships/image" Target="../media/image28.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0E9C044B-CCB4-005A-13D5-4ECC45CF5980}"/>
              </a:ext>
            </a:extLst>
          </p:cNvPr>
          <p:cNvSpPr txBox="1">
            <a:spLocks/>
          </p:cNvSpPr>
          <p:nvPr/>
        </p:nvSpPr>
        <p:spPr>
          <a:xfrm>
            <a:off x="0" y="31613"/>
            <a:ext cx="10515600" cy="888694"/>
          </a:xfrm>
          <a:prstGeom prst="rect">
            <a:avLst/>
          </a:prstGeom>
        </p:spPr>
        <p:txBody>
          <a:bodyPr vert="horz" lIns="91440" tIns="45720" rIns="91440" bIns="45720" rtlCol="0" anchor="b">
            <a:normAutofit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dirty="0"/>
              <a:t>Physical Properties</a:t>
            </a:r>
          </a:p>
        </p:txBody>
      </p:sp>
      <p:pic>
        <p:nvPicPr>
          <p:cNvPr id="8" name="Picture 7">
            <a:extLst>
              <a:ext uri="{FF2B5EF4-FFF2-40B4-BE49-F238E27FC236}">
                <a16:creationId xmlns:a16="http://schemas.microsoft.com/office/drawing/2014/main" id="{F424DC97-3DDE-8902-87B4-66B3E1B5694B}"/>
              </a:ext>
            </a:extLst>
          </p:cNvPr>
          <p:cNvPicPr>
            <a:picLocks noChangeAspect="1"/>
          </p:cNvPicPr>
          <p:nvPr/>
        </p:nvPicPr>
        <p:blipFill>
          <a:blip r:embed="rId3"/>
          <a:stretch>
            <a:fillRect/>
          </a:stretch>
        </p:blipFill>
        <p:spPr>
          <a:xfrm>
            <a:off x="6079958" y="14723"/>
            <a:ext cx="963428" cy="872396"/>
          </a:xfrm>
          <a:prstGeom prst="rect">
            <a:avLst/>
          </a:prstGeom>
        </p:spPr>
      </p:pic>
      <p:sp>
        <p:nvSpPr>
          <p:cNvPr id="13" name="TextBox 12">
            <a:extLst>
              <a:ext uri="{FF2B5EF4-FFF2-40B4-BE49-F238E27FC236}">
                <a16:creationId xmlns:a16="http://schemas.microsoft.com/office/drawing/2014/main" id="{FCCA7037-D77A-43DA-5F77-FBE32C6C6B70}"/>
              </a:ext>
            </a:extLst>
          </p:cNvPr>
          <p:cNvSpPr txBox="1"/>
          <p:nvPr/>
        </p:nvSpPr>
        <p:spPr>
          <a:xfrm>
            <a:off x="1050396" y="5004954"/>
            <a:ext cx="5029563" cy="371023"/>
          </a:xfrm>
          <a:prstGeom prst="rect">
            <a:avLst/>
          </a:prstGeom>
          <a:solidFill>
            <a:srgbClr val="AFADFD"/>
          </a:solidFill>
          <a:ln>
            <a:solidFill>
              <a:srgbClr val="AFADFD"/>
            </a:solidFill>
          </a:ln>
        </p:spPr>
        <p:txBody>
          <a:bodyPr wrap="square" rtlCol="0">
            <a:spAutoFit/>
          </a:bodyPr>
          <a:lstStyle/>
          <a:p>
            <a:pPr algn="ctr"/>
            <a:r>
              <a:rPr lang="en-US" dirty="0"/>
              <a:t>No Till</a:t>
            </a:r>
          </a:p>
        </p:txBody>
      </p:sp>
      <p:sp>
        <p:nvSpPr>
          <p:cNvPr id="14" name="TextBox 13">
            <a:extLst>
              <a:ext uri="{FF2B5EF4-FFF2-40B4-BE49-F238E27FC236}">
                <a16:creationId xmlns:a16="http://schemas.microsoft.com/office/drawing/2014/main" id="{F3EEE37A-FB5A-B9F5-E120-6EFE9F5B8FE8}"/>
              </a:ext>
            </a:extLst>
          </p:cNvPr>
          <p:cNvSpPr txBox="1"/>
          <p:nvPr/>
        </p:nvSpPr>
        <p:spPr>
          <a:xfrm>
            <a:off x="3143250" y="5377127"/>
            <a:ext cx="2936708" cy="381214"/>
          </a:xfrm>
          <a:prstGeom prst="rect">
            <a:avLst/>
          </a:prstGeom>
          <a:solidFill>
            <a:srgbClr val="15F3AE"/>
          </a:solidFill>
          <a:ln>
            <a:solidFill>
              <a:srgbClr val="15F3AE"/>
            </a:solidFill>
          </a:ln>
        </p:spPr>
        <p:txBody>
          <a:bodyPr wrap="square" rtlCol="0">
            <a:spAutoFit/>
          </a:bodyPr>
          <a:lstStyle/>
          <a:p>
            <a:pPr algn="ctr"/>
            <a:r>
              <a:rPr lang="en-US" dirty="0"/>
              <a:t>Cover Crop</a:t>
            </a:r>
          </a:p>
        </p:txBody>
      </p:sp>
      <p:sp>
        <p:nvSpPr>
          <p:cNvPr id="19" name="TextBox 18">
            <a:extLst>
              <a:ext uri="{FF2B5EF4-FFF2-40B4-BE49-F238E27FC236}">
                <a16:creationId xmlns:a16="http://schemas.microsoft.com/office/drawing/2014/main" id="{4EAD50D4-AA86-62AE-4D29-58D3665D1ED8}"/>
              </a:ext>
            </a:extLst>
          </p:cNvPr>
          <p:cNvSpPr txBox="1"/>
          <p:nvPr/>
        </p:nvSpPr>
        <p:spPr>
          <a:xfrm>
            <a:off x="3933525" y="5759219"/>
            <a:ext cx="2146433" cy="381215"/>
          </a:xfrm>
          <a:prstGeom prst="rect">
            <a:avLst/>
          </a:prstGeom>
          <a:solidFill>
            <a:srgbClr val="FF6D9E"/>
          </a:solidFill>
          <a:ln>
            <a:noFill/>
          </a:ln>
        </p:spPr>
        <p:txBody>
          <a:bodyPr wrap="square" rtlCol="0">
            <a:spAutoFit/>
          </a:bodyPr>
          <a:lstStyle/>
          <a:p>
            <a:r>
              <a:rPr lang="en-US" dirty="0"/>
              <a:t>Crop Diversity &gt;= 10</a:t>
            </a:r>
          </a:p>
        </p:txBody>
      </p:sp>
      <p:pic>
        <p:nvPicPr>
          <p:cNvPr id="36" name="Picture 35">
            <a:extLst>
              <a:ext uri="{FF2B5EF4-FFF2-40B4-BE49-F238E27FC236}">
                <a16:creationId xmlns:a16="http://schemas.microsoft.com/office/drawing/2014/main" id="{FA71ECAF-3AD3-7CA7-ED27-ADC9006BB1C5}"/>
              </a:ext>
            </a:extLst>
          </p:cNvPr>
          <p:cNvPicPr>
            <a:picLocks noChangeAspect="1"/>
          </p:cNvPicPr>
          <p:nvPr/>
        </p:nvPicPr>
        <p:blipFill rotWithShape="1">
          <a:blip r:embed="rId4"/>
          <a:srcRect l="5399" r="19761" b="5961"/>
          <a:stretch/>
        </p:blipFill>
        <p:spPr>
          <a:xfrm>
            <a:off x="6482060" y="1019176"/>
            <a:ext cx="5501394" cy="4121354"/>
          </a:xfrm>
          <a:prstGeom prst="rect">
            <a:avLst/>
          </a:prstGeom>
        </p:spPr>
      </p:pic>
      <p:pic>
        <p:nvPicPr>
          <p:cNvPr id="37" name="Picture 36">
            <a:extLst>
              <a:ext uri="{FF2B5EF4-FFF2-40B4-BE49-F238E27FC236}">
                <a16:creationId xmlns:a16="http://schemas.microsoft.com/office/drawing/2014/main" id="{8B6ABBBD-364C-61B1-DEE4-9B004DE3B2FF}"/>
              </a:ext>
            </a:extLst>
          </p:cNvPr>
          <p:cNvPicPr>
            <a:picLocks noChangeAspect="1"/>
          </p:cNvPicPr>
          <p:nvPr/>
        </p:nvPicPr>
        <p:blipFill rotWithShape="1">
          <a:blip r:embed="rId4"/>
          <a:srcRect l="80107" t="29729" b="42346"/>
          <a:stretch/>
        </p:blipFill>
        <p:spPr>
          <a:xfrm>
            <a:off x="10837328" y="7956"/>
            <a:ext cx="1208282" cy="1011220"/>
          </a:xfrm>
          <a:prstGeom prst="rect">
            <a:avLst/>
          </a:prstGeom>
        </p:spPr>
      </p:pic>
      <p:pic>
        <p:nvPicPr>
          <p:cNvPr id="4" name="Picture 3">
            <a:extLst>
              <a:ext uri="{FF2B5EF4-FFF2-40B4-BE49-F238E27FC236}">
                <a16:creationId xmlns:a16="http://schemas.microsoft.com/office/drawing/2014/main" id="{53BDD2D0-DB47-66E5-8B64-18B50E0A7969}"/>
              </a:ext>
            </a:extLst>
          </p:cNvPr>
          <p:cNvPicPr>
            <a:picLocks noChangeAspect="1"/>
          </p:cNvPicPr>
          <p:nvPr/>
        </p:nvPicPr>
        <p:blipFill>
          <a:blip r:embed="rId5"/>
          <a:stretch>
            <a:fillRect/>
          </a:stretch>
        </p:blipFill>
        <p:spPr>
          <a:xfrm>
            <a:off x="22150" y="795323"/>
            <a:ext cx="6065830" cy="4183568"/>
          </a:xfrm>
          <a:prstGeom prst="rect">
            <a:avLst/>
          </a:prstGeom>
        </p:spPr>
      </p:pic>
      <p:sp>
        <p:nvSpPr>
          <p:cNvPr id="5" name="TextBox 4">
            <a:extLst>
              <a:ext uri="{FF2B5EF4-FFF2-40B4-BE49-F238E27FC236}">
                <a16:creationId xmlns:a16="http://schemas.microsoft.com/office/drawing/2014/main" id="{23D8ED7D-6F3D-C8BC-B61F-5F04FBEE4C23}"/>
              </a:ext>
            </a:extLst>
          </p:cNvPr>
          <p:cNvSpPr txBox="1"/>
          <p:nvPr/>
        </p:nvSpPr>
        <p:spPr>
          <a:xfrm>
            <a:off x="270218" y="5004954"/>
            <a:ext cx="780178" cy="381214"/>
          </a:xfrm>
          <a:prstGeom prst="rect">
            <a:avLst/>
          </a:prstGeom>
          <a:solidFill>
            <a:srgbClr val="C4C3FD"/>
          </a:solidFill>
          <a:ln>
            <a:solidFill>
              <a:srgbClr val="C4C3FD"/>
            </a:solidFill>
          </a:ln>
        </p:spPr>
        <p:txBody>
          <a:bodyPr wrap="square" rtlCol="0">
            <a:spAutoFit/>
          </a:bodyPr>
          <a:lstStyle/>
          <a:p>
            <a:pPr algn="ctr"/>
            <a:r>
              <a:rPr lang="en-US" dirty="0"/>
              <a:t>Till</a:t>
            </a:r>
          </a:p>
        </p:txBody>
      </p:sp>
      <p:sp>
        <p:nvSpPr>
          <p:cNvPr id="6" name="TextBox 5">
            <a:extLst>
              <a:ext uri="{FF2B5EF4-FFF2-40B4-BE49-F238E27FC236}">
                <a16:creationId xmlns:a16="http://schemas.microsoft.com/office/drawing/2014/main" id="{4F084904-7442-8786-2FE5-BFD3A741F511}"/>
              </a:ext>
            </a:extLst>
          </p:cNvPr>
          <p:cNvSpPr txBox="1"/>
          <p:nvPr/>
        </p:nvSpPr>
        <p:spPr>
          <a:xfrm>
            <a:off x="270217" y="5377127"/>
            <a:ext cx="2883129" cy="381214"/>
          </a:xfrm>
          <a:prstGeom prst="rect">
            <a:avLst/>
          </a:prstGeom>
          <a:solidFill>
            <a:srgbClr val="94FADA"/>
          </a:solidFill>
          <a:ln>
            <a:solidFill>
              <a:srgbClr val="94FADA"/>
            </a:solidFill>
          </a:ln>
        </p:spPr>
        <p:txBody>
          <a:bodyPr wrap="square" rtlCol="0">
            <a:spAutoFit/>
          </a:bodyPr>
          <a:lstStyle/>
          <a:p>
            <a:pPr algn="ctr"/>
            <a:r>
              <a:rPr lang="en-US" dirty="0"/>
              <a:t>No Cover Crop</a:t>
            </a:r>
          </a:p>
        </p:txBody>
      </p:sp>
      <p:sp>
        <p:nvSpPr>
          <p:cNvPr id="7" name="TextBox 6">
            <a:extLst>
              <a:ext uri="{FF2B5EF4-FFF2-40B4-BE49-F238E27FC236}">
                <a16:creationId xmlns:a16="http://schemas.microsoft.com/office/drawing/2014/main" id="{52C09221-4B86-C7D2-1E7B-8F6692F61B4F}"/>
              </a:ext>
            </a:extLst>
          </p:cNvPr>
          <p:cNvSpPr txBox="1"/>
          <p:nvPr/>
        </p:nvSpPr>
        <p:spPr>
          <a:xfrm>
            <a:off x="270215" y="5759491"/>
            <a:ext cx="3663310" cy="369332"/>
          </a:xfrm>
          <a:prstGeom prst="rect">
            <a:avLst/>
          </a:prstGeom>
          <a:solidFill>
            <a:srgbClr val="FFB9D0"/>
          </a:solidFill>
          <a:ln>
            <a:noFill/>
          </a:ln>
        </p:spPr>
        <p:txBody>
          <a:bodyPr wrap="square" rtlCol="0">
            <a:spAutoFit/>
          </a:bodyPr>
          <a:lstStyle/>
          <a:p>
            <a:r>
              <a:rPr lang="en-US" dirty="0"/>
              <a:t>Crop Diversity &lt; 10</a:t>
            </a:r>
          </a:p>
        </p:txBody>
      </p:sp>
      <p:sp>
        <p:nvSpPr>
          <p:cNvPr id="15" name="TextBox 14">
            <a:extLst>
              <a:ext uri="{FF2B5EF4-FFF2-40B4-BE49-F238E27FC236}">
                <a16:creationId xmlns:a16="http://schemas.microsoft.com/office/drawing/2014/main" id="{346F1697-665F-4B4D-A78E-D390C4A6BB3A}"/>
              </a:ext>
            </a:extLst>
          </p:cNvPr>
          <p:cNvSpPr txBox="1"/>
          <p:nvPr/>
        </p:nvSpPr>
        <p:spPr>
          <a:xfrm>
            <a:off x="8709698" y="700907"/>
            <a:ext cx="1733550" cy="400110"/>
          </a:xfrm>
          <a:prstGeom prst="rect">
            <a:avLst/>
          </a:prstGeom>
          <a:noFill/>
        </p:spPr>
        <p:txBody>
          <a:bodyPr wrap="square" rtlCol="0">
            <a:spAutoFit/>
          </a:bodyPr>
          <a:lstStyle/>
          <a:p>
            <a:r>
              <a:rPr lang="en-US" sz="2000" dirty="0">
                <a:solidFill>
                  <a:schemeClr val="tx1">
                    <a:lumMod val="75000"/>
                    <a:lumOff val="25000"/>
                  </a:schemeClr>
                </a:solidFill>
              </a:rPr>
              <a:t>Texture (%)</a:t>
            </a:r>
          </a:p>
        </p:txBody>
      </p:sp>
      <p:pic>
        <p:nvPicPr>
          <p:cNvPr id="3" name="Picture 2">
            <a:extLst>
              <a:ext uri="{FF2B5EF4-FFF2-40B4-BE49-F238E27FC236}">
                <a16:creationId xmlns:a16="http://schemas.microsoft.com/office/drawing/2014/main" id="{1E08E07E-68FC-016B-B609-B7EC825DE187}"/>
              </a:ext>
            </a:extLst>
          </p:cNvPr>
          <p:cNvPicPr>
            <a:picLocks noChangeAspect="1"/>
          </p:cNvPicPr>
          <p:nvPr/>
        </p:nvPicPr>
        <p:blipFill>
          <a:blip r:embed="rId6"/>
          <a:stretch>
            <a:fillRect/>
          </a:stretch>
        </p:blipFill>
        <p:spPr>
          <a:xfrm>
            <a:off x="6860137" y="4863422"/>
            <a:ext cx="5061645" cy="1113995"/>
          </a:xfrm>
          <a:prstGeom prst="rect">
            <a:avLst/>
          </a:prstGeom>
        </p:spPr>
      </p:pic>
    </p:spTree>
    <p:extLst>
      <p:ext uri="{BB962C8B-B14F-4D97-AF65-F5344CB8AC3E}">
        <p14:creationId xmlns:p14="http://schemas.microsoft.com/office/powerpoint/2010/main" val="24139830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940B87-A8B1-A95F-408D-056EEE24A7BB}"/>
              </a:ext>
            </a:extLst>
          </p:cNvPr>
          <p:cNvSpPr>
            <a:spLocks noGrp="1"/>
          </p:cNvSpPr>
          <p:nvPr>
            <p:ph type="title"/>
          </p:nvPr>
        </p:nvSpPr>
        <p:spPr>
          <a:xfrm>
            <a:off x="0" y="0"/>
            <a:ext cx="10515600" cy="1325563"/>
          </a:xfrm>
        </p:spPr>
        <p:txBody>
          <a:bodyPr/>
          <a:lstStyle/>
          <a:p>
            <a:r>
              <a:rPr lang="en-US" dirty="0"/>
              <a:t>Biological Properties</a:t>
            </a:r>
          </a:p>
        </p:txBody>
      </p:sp>
      <p:pic>
        <p:nvPicPr>
          <p:cNvPr id="19" name="Picture 18">
            <a:extLst>
              <a:ext uri="{FF2B5EF4-FFF2-40B4-BE49-F238E27FC236}">
                <a16:creationId xmlns:a16="http://schemas.microsoft.com/office/drawing/2014/main" id="{EC0E5F91-C74D-A3B5-20EC-8757643A9CAB}"/>
              </a:ext>
            </a:extLst>
          </p:cNvPr>
          <p:cNvPicPr>
            <a:picLocks noChangeAspect="1"/>
          </p:cNvPicPr>
          <p:nvPr/>
        </p:nvPicPr>
        <p:blipFill>
          <a:blip r:embed="rId3"/>
          <a:stretch>
            <a:fillRect/>
          </a:stretch>
        </p:blipFill>
        <p:spPr>
          <a:xfrm>
            <a:off x="6451307" y="973120"/>
            <a:ext cx="5644248" cy="3852308"/>
          </a:xfrm>
          <a:prstGeom prst="rect">
            <a:avLst/>
          </a:prstGeom>
        </p:spPr>
      </p:pic>
      <p:pic>
        <p:nvPicPr>
          <p:cNvPr id="14" name="Picture 13">
            <a:extLst>
              <a:ext uri="{FF2B5EF4-FFF2-40B4-BE49-F238E27FC236}">
                <a16:creationId xmlns:a16="http://schemas.microsoft.com/office/drawing/2014/main" id="{463EC35C-2D67-CBB6-DDF5-DDE3DAF8E84E}"/>
              </a:ext>
            </a:extLst>
          </p:cNvPr>
          <p:cNvPicPr>
            <a:picLocks noChangeAspect="1"/>
          </p:cNvPicPr>
          <p:nvPr/>
        </p:nvPicPr>
        <p:blipFill>
          <a:blip r:embed="rId4"/>
          <a:stretch>
            <a:fillRect/>
          </a:stretch>
        </p:blipFill>
        <p:spPr>
          <a:xfrm>
            <a:off x="5606735" y="0"/>
            <a:ext cx="1155164" cy="1046016"/>
          </a:xfrm>
          <a:prstGeom prst="rect">
            <a:avLst/>
          </a:prstGeom>
        </p:spPr>
      </p:pic>
      <p:pic>
        <p:nvPicPr>
          <p:cNvPr id="10" name="Picture 9">
            <a:extLst>
              <a:ext uri="{FF2B5EF4-FFF2-40B4-BE49-F238E27FC236}">
                <a16:creationId xmlns:a16="http://schemas.microsoft.com/office/drawing/2014/main" id="{32BB8A6A-844E-8D61-C3DA-88D44D973670}"/>
              </a:ext>
            </a:extLst>
          </p:cNvPr>
          <p:cNvPicPr>
            <a:picLocks noChangeAspect="1"/>
          </p:cNvPicPr>
          <p:nvPr/>
        </p:nvPicPr>
        <p:blipFill>
          <a:blip r:embed="rId5"/>
          <a:stretch>
            <a:fillRect/>
          </a:stretch>
        </p:blipFill>
        <p:spPr>
          <a:xfrm>
            <a:off x="-1" y="973121"/>
            <a:ext cx="5951431" cy="3961052"/>
          </a:xfrm>
          <a:prstGeom prst="rect">
            <a:avLst/>
          </a:prstGeom>
        </p:spPr>
      </p:pic>
      <p:pic>
        <p:nvPicPr>
          <p:cNvPr id="3" name="Picture 2">
            <a:extLst>
              <a:ext uri="{FF2B5EF4-FFF2-40B4-BE49-F238E27FC236}">
                <a16:creationId xmlns:a16="http://schemas.microsoft.com/office/drawing/2014/main" id="{3494EC5D-0C9B-8D9D-E9CF-EE2D91541404}"/>
              </a:ext>
            </a:extLst>
          </p:cNvPr>
          <p:cNvPicPr>
            <a:picLocks noChangeAspect="1"/>
          </p:cNvPicPr>
          <p:nvPr/>
        </p:nvPicPr>
        <p:blipFill>
          <a:blip r:embed="rId6"/>
          <a:stretch>
            <a:fillRect/>
          </a:stretch>
        </p:blipFill>
        <p:spPr>
          <a:xfrm>
            <a:off x="6658006" y="4688154"/>
            <a:ext cx="5437549" cy="1196726"/>
          </a:xfrm>
          <a:prstGeom prst="rect">
            <a:avLst/>
          </a:prstGeom>
        </p:spPr>
      </p:pic>
      <p:pic>
        <p:nvPicPr>
          <p:cNvPr id="4" name="Picture 3">
            <a:extLst>
              <a:ext uri="{FF2B5EF4-FFF2-40B4-BE49-F238E27FC236}">
                <a16:creationId xmlns:a16="http://schemas.microsoft.com/office/drawing/2014/main" id="{75E34741-2BFD-5C13-50EC-4E5560066C85}"/>
              </a:ext>
            </a:extLst>
          </p:cNvPr>
          <p:cNvPicPr>
            <a:picLocks noChangeAspect="1"/>
          </p:cNvPicPr>
          <p:nvPr/>
        </p:nvPicPr>
        <p:blipFill>
          <a:blip r:embed="rId6"/>
          <a:stretch>
            <a:fillRect/>
          </a:stretch>
        </p:blipFill>
        <p:spPr>
          <a:xfrm>
            <a:off x="419766" y="4744364"/>
            <a:ext cx="5531664" cy="1217439"/>
          </a:xfrm>
          <a:prstGeom prst="rect">
            <a:avLst/>
          </a:prstGeom>
        </p:spPr>
      </p:pic>
    </p:spTree>
    <p:extLst>
      <p:ext uri="{BB962C8B-B14F-4D97-AF65-F5344CB8AC3E}">
        <p14:creationId xmlns:p14="http://schemas.microsoft.com/office/powerpoint/2010/main" val="32409216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940B87-A8B1-A95F-408D-056EEE24A7BB}"/>
              </a:ext>
            </a:extLst>
          </p:cNvPr>
          <p:cNvSpPr>
            <a:spLocks noGrp="1"/>
          </p:cNvSpPr>
          <p:nvPr>
            <p:ph type="title"/>
          </p:nvPr>
        </p:nvSpPr>
        <p:spPr>
          <a:xfrm>
            <a:off x="0" y="0"/>
            <a:ext cx="10515600" cy="1325563"/>
          </a:xfrm>
        </p:spPr>
        <p:txBody>
          <a:bodyPr/>
          <a:lstStyle/>
          <a:p>
            <a:r>
              <a:rPr lang="en-US" dirty="0"/>
              <a:t>Biological Properties</a:t>
            </a:r>
          </a:p>
        </p:txBody>
      </p:sp>
      <p:pic>
        <p:nvPicPr>
          <p:cNvPr id="14" name="Picture 13">
            <a:extLst>
              <a:ext uri="{FF2B5EF4-FFF2-40B4-BE49-F238E27FC236}">
                <a16:creationId xmlns:a16="http://schemas.microsoft.com/office/drawing/2014/main" id="{463EC35C-2D67-CBB6-DDF5-DDE3DAF8E84E}"/>
              </a:ext>
            </a:extLst>
          </p:cNvPr>
          <p:cNvPicPr>
            <a:picLocks noChangeAspect="1"/>
          </p:cNvPicPr>
          <p:nvPr/>
        </p:nvPicPr>
        <p:blipFill>
          <a:blip r:embed="rId3"/>
          <a:stretch>
            <a:fillRect/>
          </a:stretch>
        </p:blipFill>
        <p:spPr>
          <a:xfrm>
            <a:off x="5257800" y="72745"/>
            <a:ext cx="987693" cy="894369"/>
          </a:xfrm>
          <a:prstGeom prst="rect">
            <a:avLst/>
          </a:prstGeom>
        </p:spPr>
      </p:pic>
      <p:sp>
        <p:nvSpPr>
          <p:cNvPr id="9" name="TextBox 8">
            <a:extLst>
              <a:ext uri="{FF2B5EF4-FFF2-40B4-BE49-F238E27FC236}">
                <a16:creationId xmlns:a16="http://schemas.microsoft.com/office/drawing/2014/main" id="{56375D05-FF00-27C8-6003-A9E2F2C3BA31}"/>
              </a:ext>
            </a:extLst>
          </p:cNvPr>
          <p:cNvSpPr txBox="1"/>
          <p:nvPr/>
        </p:nvSpPr>
        <p:spPr>
          <a:xfrm>
            <a:off x="6488085" y="0"/>
            <a:ext cx="6102224" cy="923330"/>
          </a:xfrm>
          <a:prstGeom prst="rect">
            <a:avLst/>
          </a:prstGeom>
          <a:noFill/>
        </p:spPr>
        <p:txBody>
          <a:bodyPr wrap="square" rtlCol="0">
            <a:spAutoFit/>
          </a:bodyPr>
          <a:lstStyle/>
          <a:p>
            <a:r>
              <a:rPr lang="en-US" dirty="0"/>
              <a:t>Carbon (%) is estimated from Organic Matter using the following calculation:</a:t>
            </a:r>
          </a:p>
          <a:p>
            <a:r>
              <a:rPr lang="en-US" dirty="0"/>
              <a:t>Carbon = Organic Matter  / 1.72</a:t>
            </a:r>
          </a:p>
        </p:txBody>
      </p:sp>
      <p:pic>
        <p:nvPicPr>
          <p:cNvPr id="16" name="Picture 15">
            <a:extLst>
              <a:ext uri="{FF2B5EF4-FFF2-40B4-BE49-F238E27FC236}">
                <a16:creationId xmlns:a16="http://schemas.microsoft.com/office/drawing/2014/main" id="{099C1FDE-2C8B-551D-AA94-B6E34C788686}"/>
              </a:ext>
            </a:extLst>
          </p:cNvPr>
          <p:cNvPicPr>
            <a:picLocks noChangeAspect="1"/>
          </p:cNvPicPr>
          <p:nvPr/>
        </p:nvPicPr>
        <p:blipFill>
          <a:blip r:embed="rId4"/>
          <a:stretch>
            <a:fillRect/>
          </a:stretch>
        </p:blipFill>
        <p:spPr>
          <a:xfrm>
            <a:off x="6179419" y="1116557"/>
            <a:ext cx="5907412" cy="4046691"/>
          </a:xfrm>
          <a:prstGeom prst="rect">
            <a:avLst/>
          </a:prstGeom>
        </p:spPr>
      </p:pic>
      <p:pic>
        <p:nvPicPr>
          <p:cNvPr id="18" name="Picture 17">
            <a:extLst>
              <a:ext uri="{FF2B5EF4-FFF2-40B4-BE49-F238E27FC236}">
                <a16:creationId xmlns:a16="http://schemas.microsoft.com/office/drawing/2014/main" id="{1A3D2165-F5BB-FAC1-0222-1D2C9EF76F43}"/>
              </a:ext>
            </a:extLst>
          </p:cNvPr>
          <p:cNvPicPr>
            <a:picLocks noChangeAspect="1"/>
          </p:cNvPicPr>
          <p:nvPr/>
        </p:nvPicPr>
        <p:blipFill>
          <a:blip r:embed="rId5"/>
          <a:stretch>
            <a:fillRect/>
          </a:stretch>
        </p:blipFill>
        <p:spPr>
          <a:xfrm>
            <a:off x="245507" y="1116557"/>
            <a:ext cx="5850494" cy="3987450"/>
          </a:xfrm>
          <a:prstGeom prst="rect">
            <a:avLst/>
          </a:prstGeom>
        </p:spPr>
      </p:pic>
      <p:pic>
        <p:nvPicPr>
          <p:cNvPr id="5" name="Picture 4">
            <a:extLst>
              <a:ext uri="{FF2B5EF4-FFF2-40B4-BE49-F238E27FC236}">
                <a16:creationId xmlns:a16="http://schemas.microsoft.com/office/drawing/2014/main" id="{6404DF05-2A61-4591-FA90-B8905A2B76AA}"/>
              </a:ext>
            </a:extLst>
          </p:cNvPr>
          <p:cNvPicPr>
            <a:picLocks noChangeAspect="1"/>
          </p:cNvPicPr>
          <p:nvPr/>
        </p:nvPicPr>
        <p:blipFill>
          <a:blip r:embed="rId6"/>
          <a:stretch>
            <a:fillRect/>
          </a:stretch>
        </p:blipFill>
        <p:spPr>
          <a:xfrm>
            <a:off x="451979" y="4921833"/>
            <a:ext cx="5727440" cy="1260527"/>
          </a:xfrm>
          <a:prstGeom prst="rect">
            <a:avLst/>
          </a:prstGeom>
        </p:spPr>
      </p:pic>
      <p:pic>
        <p:nvPicPr>
          <p:cNvPr id="6" name="Picture 5">
            <a:extLst>
              <a:ext uri="{FF2B5EF4-FFF2-40B4-BE49-F238E27FC236}">
                <a16:creationId xmlns:a16="http://schemas.microsoft.com/office/drawing/2014/main" id="{1B2D4381-DFAC-3F5F-3A3E-32A620740D2B}"/>
              </a:ext>
            </a:extLst>
          </p:cNvPr>
          <p:cNvPicPr>
            <a:picLocks noChangeAspect="1"/>
          </p:cNvPicPr>
          <p:nvPr/>
        </p:nvPicPr>
        <p:blipFill>
          <a:blip r:embed="rId6"/>
          <a:stretch>
            <a:fillRect/>
          </a:stretch>
        </p:blipFill>
        <p:spPr>
          <a:xfrm>
            <a:off x="6359391" y="4994921"/>
            <a:ext cx="5727440" cy="1260527"/>
          </a:xfrm>
          <a:prstGeom prst="rect">
            <a:avLst/>
          </a:prstGeom>
        </p:spPr>
      </p:pic>
    </p:spTree>
    <p:extLst>
      <p:ext uri="{BB962C8B-B14F-4D97-AF65-F5344CB8AC3E}">
        <p14:creationId xmlns:p14="http://schemas.microsoft.com/office/powerpoint/2010/main" val="30895194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79059-26A7-FC29-BC1F-4007C34D9632}"/>
              </a:ext>
            </a:extLst>
          </p:cNvPr>
          <p:cNvSpPr>
            <a:spLocks noGrp="1"/>
          </p:cNvSpPr>
          <p:nvPr>
            <p:ph type="title"/>
          </p:nvPr>
        </p:nvSpPr>
        <p:spPr>
          <a:xfrm>
            <a:off x="0" y="0"/>
            <a:ext cx="10515600" cy="1325563"/>
          </a:xfrm>
        </p:spPr>
        <p:txBody>
          <a:bodyPr/>
          <a:lstStyle/>
          <a:p>
            <a:r>
              <a:rPr lang="en-US" dirty="0"/>
              <a:t>Chemical Properties</a:t>
            </a:r>
          </a:p>
        </p:txBody>
      </p:sp>
      <p:pic>
        <p:nvPicPr>
          <p:cNvPr id="15" name="Picture 14">
            <a:extLst>
              <a:ext uri="{FF2B5EF4-FFF2-40B4-BE49-F238E27FC236}">
                <a16:creationId xmlns:a16="http://schemas.microsoft.com/office/drawing/2014/main" id="{6B61FB4D-6C93-C0EA-94E7-B50177F7222E}"/>
              </a:ext>
            </a:extLst>
          </p:cNvPr>
          <p:cNvPicPr>
            <a:picLocks noChangeAspect="1"/>
          </p:cNvPicPr>
          <p:nvPr/>
        </p:nvPicPr>
        <p:blipFill>
          <a:blip r:embed="rId3"/>
          <a:stretch>
            <a:fillRect/>
          </a:stretch>
        </p:blipFill>
        <p:spPr>
          <a:xfrm>
            <a:off x="6015224" y="964875"/>
            <a:ext cx="6147191" cy="4223260"/>
          </a:xfrm>
          <a:prstGeom prst="rect">
            <a:avLst/>
          </a:prstGeom>
        </p:spPr>
      </p:pic>
      <p:pic>
        <p:nvPicPr>
          <p:cNvPr id="17" name="Picture 16">
            <a:extLst>
              <a:ext uri="{FF2B5EF4-FFF2-40B4-BE49-F238E27FC236}">
                <a16:creationId xmlns:a16="http://schemas.microsoft.com/office/drawing/2014/main" id="{941802F1-C726-4CD1-3EC5-D0D87D3333C5}"/>
              </a:ext>
            </a:extLst>
          </p:cNvPr>
          <p:cNvPicPr>
            <a:picLocks noChangeAspect="1"/>
          </p:cNvPicPr>
          <p:nvPr/>
        </p:nvPicPr>
        <p:blipFill>
          <a:blip r:embed="rId4"/>
          <a:stretch>
            <a:fillRect/>
          </a:stretch>
        </p:blipFill>
        <p:spPr>
          <a:xfrm>
            <a:off x="29585" y="1026265"/>
            <a:ext cx="5990624" cy="4100480"/>
          </a:xfrm>
          <a:prstGeom prst="rect">
            <a:avLst/>
          </a:prstGeom>
        </p:spPr>
      </p:pic>
      <p:pic>
        <p:nvPicPr>
          <p:cNvPr id="5" name="Picture 4">
            <a:extLst>
              <a:ext uri="{FF2B5EF4-FFF2-40B4-BE49-F238E27FC236}">
                <a16:creationId xmlns:a16="http://schemas.microsoft.com/office/drawing/2014/main" id="{9D5BF3D7-67A0-1A65-D060-2B233C30940C}"/>
              </a:ext>
            </a:extLst>
          </p:cNvPr>
          <p:cNvPicPr>
            <a:picLocks noChangeAspect="1"/>
          </p:cNvPicPr>
          <p:nvPr/>
        </p:nvPicPr>
        <p:blipFill>
          <a:blip r:embed="rId5"/>
          <a:stretch>
            <a:fillRect/>
          </a:stretch>
        </p:blipFill>
        <p:spPr>
          <a:xfrm>
            <a:off x="5533163" y="139773"/>
            <a:ext cx="1155164" cy="1046016"/>
          </a:xfrm>
          <a:prstGeom prst="rect">
            <a:avLst/>
          </a:prstGeom>
        </p:spPr>
      </p:pic>
      <p:pic>
        <p:nvPicPr>
          <p:cNvPr id="6" name="Picture 5">
            <a:extLst>
              <a:ext uri="{FF2B5EF4-FFF2-40B4-BE49-F238E27FC236}">
                <a16:creationId xmlns:a16="http://schemas.microsoft.com/office/drawing/2014/main" id="{E0DAD91F-6776-0100-63BC-6BB61466D3E1}"/>
              </a:ext>
            </a:extLst>
          </p:cNvPr>
          <p:cNvPicPr>
            <a:picLocks noChangeAspect="1"/>
          </p:cNvPicPr>
          <p:nvPr/>
        </p:nvPicPr>
        <p:blipFill>
          <a:blip r:embed="rId6"/>
          <a:stretch>
            <a:fillRect/>
          </a:stretch>
        </p:blipFill>
        <p:spPr>
          <a:xfrm>
            <a:off x="6305876" y="4958900"/>
            <a:ext cx="5891108" cy="1296548"/>
          </a:xfrm>
          <a:prstGeom prst="rect">
            <a:avLst/>
          </a:prstGeom>
        </p:spPr>
      </p:pic>
      <p:pic>
        <p:nvPicPr>
          <p:cNvPr id="7" name="Picture 6">
            <a:extLst>
              <a:ext uri="{FF2B5EF4-FFF2-40B4-BE49-F238E27FC236}">
                <a16:creationId xmlns:a16="http://schemas.microsoft.com/office/drawing/2014/main" id="{27D3EB27-7C1A-0E41-C3D6-8C186930CBE2}"/>
              </a:ext>
            </a:extLst>
          </p:cNvPr>
          <p:cNvPicPr>
            <a:picLocks noChangeAspect="1"/>
          </p:cNvPicPr>
          <p:nvPr/>
        </p:nvPicPr>
        <p:blipFill>
          <a:blip r:embed="rId6"/>
          <a:stretch>
            <a:fillRect/>
          </a:stretch>
        </p:blipFill>
        <p:spPr>
          <a:xfrm>
            <a:off x="158684" y="4979700"/>
            <a:ext cx="5891109" cy="1296548"/>
          </a:xfrm>
          <a:prstGeom prst="rect">
            <a:avLst/>
          </a:prstGeom>
        </p:spPr>
      </p:pic>
    </p:spTree>
    <p:extLst>
      <p:ext uri="{BB962C8B-B14F-4D97-AF65-F5344CB8AC3E}">
        <p14:creationId xmlns:p14="http://schemas.microsoft.com/office/powerpoint/2010/main" val="24108295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99629-16D8-3DB9-70F9-627422F1006E}"/>
              </a:ext>
            </a:extLst>
          </p:cNvPr>
          <p:cNvSpPr>
            <a:spLocks noGrp="1"/>
          </p:cNvSpPr>
          <p:nvPr>
            <p:ph type="title"/>
          </p:nvPr>
        </p:nvSpPr>
        <p:spPr>
          <a:xfrm>
            <a:off x="0" y="0"/>
            <a:ext cx="10515600" cy="1325563"/>
          </a:xfrm>
        </p:spPr>
        <p:txBody>
          <a:bodyPr/>
          <a:lstStyle/>
          <a:p>
            <a:r>
              <a:rPr lang="en-US" dirty="0"/>
              <a:t>Water Extracts</a:t>
            </a:r>
          </a:p>
        </p:txBody>
      </p:sp>
      <p:pic>
        <p:nvPicPr>
          <p:cNvPr id="6" name="Picture 5">
            <a:extLst>
              <a:ext uri="{FF2B5EF4-FFF2-40B4-BE49-F238E27FC236}">
                <a16:creationId xmlns:a16="http://schemas.microsoft.com/office/drawing/2014/main" id="{90E8CF85-C7E3-448C-7DEA-C224BCB03784}"/>
              </a:ext>
            </a:extLst>
          </p:cNvPr>
          <p:cNvPicPr>
            <a:picLocks noChangeAspect="1"/>
          </p:cNvPicPr>
          <p:nvPr/>
        </p:nvPicPr>
        <p:blipFill>
          <a:blip r:embed="rId2"/>
          <a:stretch>
            <a:fillRect/>
          </a:stretch>
        </p:blipFill>
        <p:spPr>
          <a:xfrm>
            <a:off x="6197379" y="1104180"/>
            <a:ext cx="5873440" cy="3955279"/>
          </a:xfrm>
          <a:prstGeom prst="rect">
            <a:avLst/>
          </a:prstGeom>
        </p:spPr>
      </p:pic>
      <p:pic>
        <p:nvPicPr>
          <p:cNvPr id="8" name="Picture 7">
            <a:extLst>
              <a:ext uri="{FF2B5EF4-FFF2-40B4-BE49-F238E27FC236}">
                <a16:creationId xmlns:a16="http://schemas.microsoft.com/office/drawing/2014/main" id="{16FBB673-0AF7-F2EA-EC24-BB1D2457387E}"/>
              </a:ext>
            </a:extLst>
          </p:cNvPr>
          <p:cNvPicPr>
            <a:picLocks noChangeAspect="1"/>
          </p:cNvPicPr>
          <p:nvPr/>
        </p:nvPicPr>
        <p:blipFill>
          <a:blip r:embed="rId3"/>
          <a:stretch>
            <a:fillRect/>
          </a:stretch>
        </p:blipFill>
        <p:spPr>
          <a:xfrm>
            <a:off x="194761" y="1205345"/>
            <a:ext cx="5901239" cy="3849267"/>
          </a:xfrm>
          <a:prstGeom prst="rect">
            <a:avLst/>
          </a:prstGeom>
        </p:spPr>
      </p:pic>
      <p:pic>
        <p:nvPicPr>
          <p:cNvPr id="9" name="Picture 8">
            <a:extLst>
              <a:ext uri="{FF2B5EF4-FFF2-40B4-BE49-F238E27FC236}">
                <a16:creationId xmlns:a16="http://schemas.microsoft.com/office/drawing/2014/main" id="{393C9D5B-6467-5868-D3D5-88FB2A0F452F}"/>
              </a:ext>
            </a:extLst>
          </p:cNvPr>
          <p:cNvPicPr>
            <a:picLocks noChangeAspect="1"/>
          </p:cNvPicPr>
          <p:nvPr/>
        </p:nvPicPr>
        <p:blipFill>
          <a:blip r:embed="rId4"/>
          <a:stretch>
            <a:fillRect/>
          </a:stretch>
        </p:blipFill>
        <p:spPr>
          <a:xfrm>
            <a:off x="5533163" y="139773"/>
            <a:ext cx="1155164" cy="1046016"/>
          </a:xfrm>
          <a:prstGeom prst="rect">
            <a:avLst/>
          </a:prstGeom>
        </p:spPr>
      </p:pic>
      <p:pic>
        <p:nvPicPr>
          <p:cNvPr id="5" name="Picture 4">
            <a:extLst>
              <a:ext uri="{FF2B5EF4-FFF2-40B4-BE49-F238E27FC236}">
                <a16:creationId xmlns:a16="http://schemas.microsoft.com/office/drawing/2014/main" id="{3B568289-D0D6-50BE-060F-5BD8FC12B97E}"/>
              </a:ext>
            </a:extLst>
          </p:cNvPr>
          <p:cNvPicPr>
            <a:picLocks noChangeAspect="1"/>
          </p:cNvPicPr>
          <p:nvPr/>
        </p:nvPicPr>
        <p:blipFill>
          <a:blip r:embed="rId5"/>
          <a:stretch>
            <a:fillRect/>
          </a:stretch>
        </p:blipFill>
        <p:spPr>
          <a:xfrm>
            <a:off x="6464560" y="4903112"/>
            <a:ext cx="5606259" cy="1233857"/>
          </a:xfrm>
          <a:prstGeom prst="rect">
            <a:avLst/>
          </a:prstGeom>
        </p:spPr>
      </p:pic>
      <p:pic>
        <p:nvPicPr>
          <p:cNvPr id="7" name="Picture 6">
            <a:extLst>
              <a:ext uri="{FF2B5EF4-FFF2-40B4-BE49-F238E27FC236}">
                <a16:creationId xmlns:a16="http://schemas.microsoft.com/office/drawing/2014/main" id="{0F268393-4717-DB43-FBC3-8F7E5E59E56A}"/>
              </a:ext>
            </a:extLst>
          </p:cNvPr>
          <p:cNvPicPr>
            <a:picLocks noChangeAspect="1"/>
          </p:cNvPicPr>
          <p:nvPr/>
        </p:nvPicPr>
        <p:blipFill>
          <a:blip r:embed="rId5"/>
          <a:stretch>
            <a:fillRect/>
          </a:stretch>
        </p:blipFill>
        <p:spPr>
          <a:xfrm>
            <a:off x="591121" y="4854129"/>
            <a:ext cx="5504880" cy="1211545"/>
          </a:xfrm>
          <a:prstGeom prst="rect">
            <a:avLst/>
          </a:prstGeom>
        </p:spPr>
      </p:pic>
    </p:spTree>
    <p:extLst>
      <p:ext uri="{BB962C8B-B14F-4D97-AF65-F5344CB8AC3E}">
        <p14:creationId xmlns:p14="http://schemas.microsoft.com/office/powerpoint/2010/main" val="15472710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65A2A08-D2D3-569A-3FB8-A942D3A63F36}"/>
              </a:ext>
            </a:extLst>
          </p:cNvPr>
          <p:cNvSpPr txBox="1"/>
          <p:nvPr/>
        </p:nvSpPr>
        <p:spPr>
          <a:xfrm rot="16200000">
            <a:off x="-640006" y="3444721"/>
            <a:ext cx="5239273" cy="400110"/>
          </a:xfrm>
          <a:prstGeom prst="rect">
            <a:avLst/>
          </a:prstGeom>
          <a:noFill/>
        </p:spPr>
        <p:txBody>
          <a:bodyPr wrap="square" rtlCol="0">
            <a:spAutoFit/>
          </a:bodyPr>
          <a:lstStyle/>
          <a:p>
            <a:r>
              <a:rPr lang="en-US" sz="2000">
                <a:latin typeface="Arial" panose="020B0604020202020204" pitchFamily="34" charset="0"/>
                <a:cs typeface="Arial" panose="020B0604020202020204" pitchFamily="34" charset="0"/>
              </a:rPr>
              <a:t>Water Extractable Nitrogen from Soil (mg/kg)</a:t>
            </a:r>
          </a:p>
        </p:txBody>
      </p:sp>
      <p:pic>
        <p:nvPicPr>
          <p:cNvPr id="5" name="Picture 4">
            <a:extLst>
              <a:ext uri="{FF2B5EF4-FFF2-40B4-BE49-F238E27FC236}">
                <a16:creationId xmlns:a16="http://schemas.microsoft.com/office/drawing/2014/main" id="{C69C4B3F-A31B-8840-7C7E-75F35A0F1FA9}"/>
              </a:ext>
            </a:extLst>
          </p:cNvPr>
          <p:cNvPicPr>
            <a:picLocks noChangeAspect="1"/>
          </p:cNvPicPr>
          <p:nvPr/>
        </p:nvPicPr>
        <p:blipFill rotWithShape="1">
          <a:blip r:embed="rId2"/>
          <a:srcRect l="3035" t="750" r="27996" b="9591"/>
          <a:stretch/>
        </p:blipFill>
        <p:spPr>
          <a:xfrm>
            <a:off x="2179686" y="942641"/>
            <a:ext cx="7740751" cy="5052640"/>
          </a:xfrm>
          <a:prstGeom prst="rect">
            <a:avLst/>
          </a:prstGeom>
        </p:spPr>
      </p:pic>
      <p:pic>
        <p:nvPicPr>
          <p:cNvPr id="6" name="Picture 5">
            <a:extLst>
              <a:ext uri="{FF2B5EF4-FFF2-40B4-BE49-F238E27FC236}">
                <a16:creationId xmlns:a16="http://schemas.microsoft.com/office/drawing/2014/main" id="{10FA166E-B05F-5AC6-C1A3-01B21BF8BD36}"/>
              </a:ext>
            </a:extLst>
          </p:cNvPr>
          <p:cNvPicPr>
            <a:picLocks noChangeAspect="1"/>
          </p:cNvPicPr>
          <p:nvPr/>
        </p:nvPicPr>
        <p:blipFill rotWithShape="1">
          <a:blip r:embed="rId2"/>
          <a:srcRect l="72767" t="36659" b="39650"/>
          <a:stretch/>
        </p:blipFill>
        <p:spPr>
          <a:xfrm>
            <a:off x="3062073" y="1423250"/>
            <a:ext cx="2570366" cy="1122721"/>
          </a:xfrm>
          <a:prstGeom prst="rect">
            <a:avLst/>
          </a:prstGeom>
        </p:spPr>
      </p:pic>
      <p:pic>
        <p:nvPicPr>
          <p:cNvPr id="7" name="Picture 6">
            <a:extLst>
              <a:ext uri="{FF2B5EF4-FFF2-40B4-BE49-F238E27FC236}">
                <a16:creationId xmlns:a16="http://schemas.microsoft.com/office/drawing/2014/main" id="{4E0D9B46-C9A4-BF6E-64D6-25F735A8A4F1}"/>
              </a:ext>
            </a:extLst>
          </p:cNvPr>
          <p:cNvPicPr>
            <a:picLocks noChangeAspect="1"/>
          </p:cNvPicPr>
          <p:nvPr/>
        </p:nvPicPr>
        <p:blipFill>
          <a:blip r:embed="rId3"/>
          <a:stretch>
            <a:fillRect/>
          </a:stretch>
        </p:blipFill>
        <p:spPr>
          <a:xfrm>
            <a:off x="2503637" y="6029074"/>
            <a:ext cx="3565926" cy="749573"/>
          </a:xfrm>
          <a:prstGeom prst="rect">
            <a:avLst/>
          </a:prstGeom>
        </p:spPr>
      </p:pic>
      <p:pic>
        <p:nvPicPr>
          <p:cNvPr id="8" name="Picture 7">
            <a:extLst>
              <a:ext uri="{FF2B5EF4-FFF2-40B4-BE49-F238E27FC236}">
                <a16:creationId xmlns:a16="http://schemas.microsoft.com/office/drawing/2014/main" id="{99D40441-56C9-8575-078A-971AB0A78313}"/>
              </a:ext>
            </a:extLst>
          </p:cNvPr>
          <p:cNvPicPr>
            <a:picLocks noChangeAspect="1"/>
          </p:cNvPicPr>
          <p:nvPr/>
        </p:nvPicPr>
        <p:blipFill>
          <a:blip r:embed="rId3"/>
          <a:stretch>
            <a:fillRect/>
          </a:stretch>
        </p:blipFill>
        <p:spPr>
          <a:xfrm>
            <a:off x="6217827" y="6029074"/>
            <a:ext cx="3565926" cy="749573"/>
          </a:xfrm>
          <a:prstGeom prst="rect">
            <a:avLst/>
          </a:prstGeom>
        </p:spPr>
      </p:pic>
      <p:sp>
        <p:nvSpPr>
          <p:cNvPr id="10" name="Title 1">
            <a:extLst>
              <a:ext uri="{FF2B5EF4-FFF2-40B4-BE49-F238E27FC236}">
                <a16:creationId xmlns:a16="http://schemas.microsoft.com/office/drawing/2014/main" id="{8515D9C4-4796-66B5-F71D-EF7EAE243D93}"/>
              </a:ext>
            </a:extLst>
          </p:cNvPr>
          <p:cNvSpPr txBox="1">
            <a:spLocks/>
          </p:cNvSpPr>
          <p:nvPr/>
        </p:nvSpPr>
        <p:spPr>
          <a:xfrm>
            <a:off x="0" y="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Soil Extractable Nitrogen Forms</a:t>
            </a:r>
          </a:p>
        </p:txBody>
      </p:sp>
    </p:spTree>
    <p:extLst>
      <p:ext uri="{BB962C8B-B14F-4D97-AF65-F5344CB8AC3E}">
        <p14:creationId xmlns:p14="http://schemas.microsoft.com/office/powerpoint/2010/main" val="14094185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99629-16D8-3DB9-70F9-627422F1006E}"/>
              </a:ext>
            </a:extLst>
          </p:cNvPr>
          <p:cNvSpPr>
            <a:spLocks noGrp="1"/>
          </p:cNvSpPr>
          <p:nvPr>
            <p:ph type="title"/>
          </p:nvPr>
        </p:nvSpPr>
        <p:spPr>
          <a:xfrm>
            <a:off x="0" y="0"/>
            <a:ext cx="11964202" cy="1151537"/>
          </a:xfrm>
        </p:spPr>
        <p:txBody>
          <a:bodyPr/>
          <a:lstStyle/>
          <a:p>
            <a:r>
              <a:rPr lang="en-US" dirty="0"/>
              <a:t>Water Extractable C:N and Nitrogen Mineralization</a:t>
            </a:r>
          </a:p>
        </p:txBody>
      </p:sp>
      <p:pic>
        <p:nvPicPr>
          <p:cNvPr id="7" name="Picture 6">
            <a:extLst>
              <a:ext uri="{FF2B5EF4-FFF2-40B4-BE49-F238E27FC236}">
                <a16:creationId xmlns:a16="http://schemas.microsoft.com/office/drawing/2014/main" id="{FDE87FAA-C342-5DFF-77A2-4AF5E290120F}"/>
              </a:ext>
            </a:extLst>
          </p:cNvPr>
          <p:cNvPicPr>
            <a:picLocks noChangeAspect="1"/>
          </p:cNvPicPr>
          <p:nvPr/>
        </p:nvPicPr>
        <p:blipFill>
          <a:blip r:embed="rId2"/>
          <a:stretch>
            <a:fillRect/>
          </a:stretch>
        </p:blipFill>
        <p:spPr>
          <a:xfrm>
            <a:off x="123162" y="983217"/>
            <a:ext cx="5817525" cy="3938016"/>
          </a:xfrm>
          <a:prstGeom prst="rect">
            <a:avLst/>
          </a:prstGeom>
        </p:spPr>
      </p:pic>
      <p:pic>
        <p:nvPicPr>
          <p:cNvPr id="10" name="Picture 9">
            <a:extLst>
              <a:ext uri="{FF2B5EF4-FFF2-40B4-BE49-F238E27FC236}">
                <a16:creationId xmlns:a16="http://schemas.microsoft.com/office/drawing/2014/main" id="{21B34EC4-3023-FCDF-0A10-F1755FCC2DAF}"/>
              </a:ext>
            </a:extLst>
          </p:cNvPr>
          <p:cNvPicPr>
            <a:picLocks noChangeAspect="1"/>
          </p:cNvPicPr>
          <p:nvPr/>
        </p:nvPicPr>
        <p:blipFill>
          <a:blip r:embed="rId3"/>
          <a:stretch>
            <a:fillRect/>
          </a:stretch>
        </p:blipFill>
        <p:spPr>
          <a:xfrm>
            <a:off x="6251316" y="983216"/>
            <a:ext cx="5917636" cy="3955193"/>
          </a:xfrm>
          <a:prstGeom prst="rect">
            <a:avLst/>
          </a:prstGeom>
        </p:spPr>
      </p:pic>
      <p:pic>
        <p:nvPicPr>
          <p:cNvPr id="11" name="Picture 10">
            <a:extLst>
              <a:ext uri="{FF2B5EF4-FFF2-40B4-BE49-F238E27FC236}">
                <a16:creationId xmlns:a16="http://schemas.microsoft.com/office/drawing/2014/main" id="{197C888B-49FB-5663-941C-848B73A6BD20}"/>
              </a:ext>
            </a:extLst>
          </p:cNvPr>
          <p:cNvPicPr>
            <a:picLocks noChangeAspect="1"/>
          </p:cNvPicPr>
          <p:nvPr/>
        </p:nvPicPr>
        <p:blipFill>
          <a:blip r:embed="rId4"/>
          <a:stretch>
            <a:fillRect/>
          </a:stretch>
        </p:blipFill>
        <p:spPr>
          <a:xfrm>
            <a:off x="7235838" y="1215228"/>
            <a:ext cx="1155164" cy="1046016"/>
          </a:xfrm>
          <a:prstGeom prst="rect">
            <a:avLst/>
          </a:prstGeom>
        </p:spPr>
      </p:pic>
      <p:pic>
        <p:nvPicPr>
          <p:cNvPr id="5" name="Picture 4">
            <a:extLst>
              <a:ext uri="{FF2B5EF4-FFF2-40B4-BE49-F238E27FC236}">
                <a16:creationId xmlns:a16="http://schemas.microsoft.com/office/drawing/2014/main" id="{2AB2C3D3-D571-82F9-0375-01B1DFD17F08}"/>
              </a:ext>
            </a:extLst>
          </p:cNvPr>
          <p:cNvPicPr>
            <a:picLocks noChangeAspect="1"/>
          </p:cNvPicPr>
          <p:nvPr/>
        </p:nvPicPr>
        <p:blipFill>
          <a:blip r:embed="rId5"/>
          <a:stretch>
            <a:fillRect/>
          </a:stretch>
        </p:blipFill>
        <p:spPr>
          <a:xfrm>
            <a:off x="6462579" y="4781192"/>
            <a:ext cx="5706373" cy="1255891"/>
          </a:xfrm>
          <a:prstGeom prst="rect">
            <a:avLst/>
          </a:prstGeom>
        </p:spPr>
      </p:pic>
      <p:pic>
        <p:nvPicPr>
          <p:cNvPr id="6" name="Picture 5">
            <a:extLst>
              <a:ext uri="{FF2B5EF4-FFF2-40B4-BE49-F238E27FC236}">
                <a16:creationId xmlns:a16="http://schemas.microsoft.com/office/drawing/2014/main" id="{426DE3E1-8BCC-2BAD-E438-907B7547FE70}"/>
              </a:ext>
            </a:extLst>
          </p:cNvPr>
          <p:cNvPicPr>
            <a:picLocks noChangeAspect="1"/>
          </p:cNvPicPr>
          <p:nvPr/>
        </p:nvPicPr>
        <p:blipFill>
          <a:blip r:embed="rId5"/>
          <a:stretch>
            <a:fillRect/>
          </a:stretch>
        </p:blipFill>
        <p:spPr>
          <a:xfrm>
            <a:off x="317144" y="4691357"/>
            <a:ext cx="5664957" cy="1246776"/>
          </a:xfrm>
          <a:prstGeom prst="rect">
            <a:avLst/>
          </a:prstGeom>
        </p:spPr>
      </p:pic>
    </p:spTree>
    <p:extLst>
      <p:ext uri="{BB962C8B-B14F-4D97-AF65-F5344CB8AC3E}">
        <p14:creationId xmlns:p14="http://schemas.microsoft.com/office/powerpoint/2010/main" val="1318722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99629-16D8-3DB9-70F9-627422F1006E}"/>
              </a:ext>
            </a:extLst>
          </p:cNvPr>
          <p:cNvSpPr>
            <a:spLocks noGrp="1"/>
          </p:cNvSpPr>
          <p:nvPr>
            <p:ph type="title"/>
          </p:nvPr>
        </p:nvSpPr>
        <p:spPr>
          <a:xfrm>
            <a:off x="0" y="31867"/>
            <a:ext cx="11964202" cy="1151537"/>
          </a:xfrm>
        </p:spPr>
        <p:txBody>
          <a:bodyPr/>
          <a:lstStyle/>
          <a:p>
            <a:r>
              <a:rPr lang="en-US" dirty="0"/>
              <a:t>H3A Nitrogen</a:t>
            </a:r>
          </a:p>
        </p:txBody>
      </p:sp>
      <p:pic>
        <p:nvPicPr>
          <p:cNvPr id="9" name="Picture 8">
            <a:extLst>
              <a:ext uri="{FF2B5EF4-FFF2-40B4-BE49-F238E27FC236}">
                <a16:creationId xmlns:a16="http://schemas.microsoft.com/office/drawing/2014/main" id="{185A389D-052F-A2D7-2E67-1D2353E001EC}"/>
              </a:ext>
            </a:extLst>
          </p:cNvPr>
          <p:cNvPicPr>
            <a:picLocks noChangeAspect="1"/>
          </p:cNvPicPr>
          <p:nvPr/>
        </p:nvPicPr>
        <p:blipFill>
          <a:blip r:embed="rId2"/>
          <a:stretch>
            <a:fillRect/>
          </a:stretch>
        </p:blipFill>
        <p:spPr>
          <a:xfrm>
            <a:off x="0" y="908036"/>
            <a:ext cx="5940685" cy="3980664"/>
          </a:xfrm>
          <a:prstGeom prst="rect">
            <a:avLst/>
          </a:prstGeom>
        </p:spPr>
      </p:pic>
      <p:pic>
        <p:nvPicPr>
          <p:cNvPr id="12" name="Picture 11">
            <a:extLst>
              <a:ext uri="{FF2B5EF4-FFF2-40B4-BE49-F238E27FC236}">
                <a16:creationId xmlns:a16="http://schemas.microsoft.com/office/drawing/2014/main" id="{A9535FED-23C0-CC08-B0C2-C47E3020CE11}"/>
              </a:ext>
            </a:extLst>
          </p:cNvPr>
          <p:cNvPicPr>
            <a:picLocks noChangeAspect="1"/>
          </p:cNvPicPr>
          <p:nvPr/>
        </p:nvPicPr>
        <p:blipFill>
          <a:blip r:embed="rId3"/>
          <a:stretch>
            <a:fillRect/>
          </a:stretch>
        </p:blipFill>
        <p:spPr>
          <a:xfrm>
            <a:off x="6005227" y="794657"/>
            <a:ext cx="6186773" cy="4207421"/>
          </a:xfrm>
          <a:prstGeom prst="rect">
            <a:avLst/>
          </a:prstGeom>
        </p:spPr>
      </p:pic>
      <p:pic>
        <p:nvPicPr>
          <p:cNvPr id="13" name="Picture 12">
            <a:extLst>
              <a:ext uri="{FF2B5EF4-FFF2-40B4-BE49-F238E27FC236}">
                <a16:creationId xmlns:a16="http://schemas.microsoft.com/office/drawing/2014/main" id="{9CF77B27-94D9-93D9-5B20-AE255E4FE4BF}"/>
              </a:ext>
            </a:extLst>
          </p:cNvPr>
          <p:cNvPicPr>
            <a:picLocks noChangeAspect="1"/>
          </p:cNvPicPr>
          <p:nvPr/>
        </p:nvPicPr>
        <p:blipFill>
          <a:blip r:embed="rId4"/>
          <a:stretch>
            <a:fillRect/>
          </a:stretch>
        </p:blipFill>
        <p:spPr>
          <a:xfrm>
            <a:off x="5477002" y="0"/>
            <a:ext cx="1155164" cy="1046016"/>
          </a:xfrm>
          <a:prstGeom prst="rect">
            <a:avLst/>
          </a:prstGeom>
        </p:spPr>
      </p:pic>
      <p:pic>
        <p:nvPicPr>
          <p:cNvPr id="5" name="Picture 4">
            <a:extLst>
              <a:ext uri="{FF2B5EF4-FFF2-40B4-BE49-F238E27FC236}">
                <a16:creationId xmlns:a16="http://schemas.microsoft.com/office/drawing/2014/main" id="{8832EAAB-E37E-C8B0-5B67-BCA692370817}"/>
              </a:ext>
            </a:extLst>
          </p:cNvPr>
          <p:cNvPicPr>
            <a:picLocks noChangeAspect="1"/>
          </p:cNvPicPr>
          <p:nvPr/>
        </p:nvPicPr>
        <p:blipFill>
          <a:blip r:embed="rId5"/>
          <a:stretch>
            <a:fillRect/>
          </a:stretch>
        </p:blipFill>
        <p:spPr>
          <a:xfrm>
            <a:off x="6375952" y="4807452"/>
            <a:ext cx="5816048" cy="1280029"/>
          </a:xfrm>
          <a:prstGeom prst="rect">
            <a:avLst/>
          </a:prstGeom>
        </p:spPr>
      </p:pic>
      <p:pic>
        <p:nvPicPr>
          <p:cNvPr id="6" name="Picture 5">
            <a:extLst>
              <a:ext uri="{FF2B5EF4-FFF2-40B4-BE49-F238E27FC236}">
                <a16:creationId xmlns:a16="http://schemas.microsoft.com/office/drawing/2014/main" id="{AD27DDD2-4FDB-FD1C-6BF0-D08A8EDC358A}"/>
              </a:ext>
            </a:extLst>
          </p:cNvPr>
          <p:cNvPicPr>
            <a:picLocks noChangeAspect="1"/>
          </p:cNvPicPr>
          <p:nvPr/>
        </p:nvPicPr>
        <p:blipFill>
          <a:blip r:embed="rId5"/>
          <a:stretch>
            <a:fillRect/>
          </a:stretch>
        </p:blipFill>
        <p:spPr>
          <a:xfrm>
            <a:off x="238536" y="4695003"/>
            <a:ext cx="5702149" cy="1254961"/>
          </a:xfrm>
          <a:prstGeom prst="rect">
            <a:avLst/>
          </a:prstGeom>
        </p:spPr>
      </p:pic>
    </p:spTree>
    <p:extLst>
      <p:ext uri="{BB962C8B-B14F-4D97-AF65-F5344CB8AC3E}">
        <p14:creationId xmlns:p14="http://schemas.microsoft.com/office/powerpoint/2010/main" val="28555553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99629-16D8-3DB9-70F9-627422F1006E}"/>
              </a:ext>
            </a:extLst>
          </p:cNvPr>
          <p:cNvSpPr>
            <a:spLocks noGrp="1"/>
          </p:cNvSpPr>
          <p:nvPr>
            <p:ph type="title"/>
          </p:nvPr>
        </p:nvSpPr>
        <p:spPr>
          <a:xfrm>
            <a:off x="0" y="31867"/>
            <a:ext cx="11964202" cy="762789"/>
          </a:xfrm>
        </p:spPr>
        <p:txBody>
          <a:bodyPr/>
          <a:lstStyle/>
          <a:p>
            <a:r>
              <a:rPr lang="en-US" dirty="0"/>
              <a:t>H3A Phosphorous</a:t>
            </a:r>
          </a:p>
        </p:txBody>
      </p:sp>
      <p:pic>
        <p:nvPicPr>
          <p:cNvPr id="4" name="Picture 3">
            <a:extLst>
              <a:ext uri="{FF2B5EF4-FFF2-40B4-BE49-F238E27FC236}">
                <a16:creationId xmlns:a16="http://schemas.microsoft.com/office/drawing/2014/main" id="{BADF3F3A-3070-B2A1-5ED9-39D6450FEA39}"/>
              </a:ext>
            </a:extLst>
          </p:cNvPr>
          <p:cNvPicPr>
            <a:picLocks noChangeAspect="1"/>
          </p:cNvPicPr>
          <p:nvPr/>
        </p:nvPicPr>
        <p:blipFill>
          <a:blip r:embed="rId2"/>
          <a:stretch>
            <a:fillRect/>
          </a:stretch>
        </p:blipFill>
        <p:spPr>
          <a:xfrm>
            <a:off x="-20627" y="794657"/>
            <a:ext cx="5910947" cy="3977668"/>
          </a:xfrm>
          <a:prstGeom prst="rect">
            <a:avLst/>
          </a:prstGeom>
        </p:spPr>
      </p:pic>
      <p:pic>
        <p:nvPicPr>
          <p:cNvPr id="10" name="Picture 9">
            <a:extLst>
              <a:ext uri="{FF2B5EF4-FFF2-40B4-BE49-F238E27FC236}">
                <a16:creationId xmlns:a16="http://schemas.microsoft.com/office/drawing/2014/main" id="{6C644C0D-9FB2-D336-C29F-75918376FD42}"/>
              </a:ext>
            </a:extLst>
          </p:cNvPr>
          <p:cNvPicPr>
            <a:picLocks noChangeAspect="1"/>
          </p:cNvPicPr>
          <p:nvPr/>
        </p:nvPicPr>
        <p:blipFill>
          <a:blip r:embed="rId3"/>
          <a:stretch>
            <a:fillRect/>
          </a:stretch>
        </p:blipFill>
        <p:spPr>
          <a:xfrm>
            <a:off x="6301682" y="794656"/>
            <a:ext cx="5890318" cy="3993814"/>
          </a:xfrm>
          <a:prstGeom prst="rect">
            <a:avLst/>
          </a:prstGeom>
        </p:spPr>
      </p:pic>
      <p:pic>
        <p:nvPicPr>
          <p:cNvPr id="11" name="Picture 10">
            <a:extLst>
              <a:ext uri="{FF2B5EF4-FFF2-40B4-BE49-F238E27FC236}">
                <a16:creationId xmlns:a16="http://schemas.microsoft.com/office/drawing/2014/main" id="{5AFFF8AE-635D-A6EC-757B-B93709FF97F8}"/>
              </a:ext>
            </a:extLst>
          </p:cNvPr>
          <p:cNvPicPr>
            <a:picLocks noChangeAspect="1"/>
          </p:cNvPicPr>
          <p:nvPr/>
        </p:nvPicPr>
        <p:blipFill>
          <a:blip r:embed="rId4"/>
          <a:stretch>
            <a:fillRect/>
          </a:stretch>
        </p:blipFill>
        <p:spPr>
          <a:xfrm>
            <a:off x="5518419" y="0"/>
            <a:ext cx="1056242" cy="956441"/>
          </a:xfrm>
          <a:prstGeom prst="rect">
            <a:avLst/>
          </a:prstGeom>
        </p:spPr>
      </p:pic>
      <p:pic>
        <p:nvPicPr>
          <p:cNvPr id="6" name="Picture 5">
            <a:extLst>
              <a:ext uri="{FF2B5EF4-FFF2-40B4-BE49-F238E27FC236}">
                <a16:creationId xmlns:a16="http://schemas.microsoft.com/office/drawing/2014/main" id="{D9B2C36E-1F77-EFFE-771B-A8E14C89E328}"/>
              </a:ext>
            </a:extLst>
          </p:cNvPr>
          <p:cNvPicPr>
            <a:picLocks noChangeAspect="1"/>
          </p:cNvPicPr>
          <p:nvPr/>
        </p:nvPicPr>
        <p:blipFill>
          <a:blip r:embed="rId5"/>
          <a:stretch>
            <a:fillRect/>
          </a:stretch>
        </p:blipFill>
        <p:spPr>
          <a:xfrm>
            <a:off x="279953" y="4586071"/>
            <a:ext cx="5610366" cy="1234761"/>
          </a:xfrm>
          <a:prstGeom prst="rect">
            <a:avLst/>
          </a:prstGeom>
        </p:spPr>
      </p:pic>
      <p:pic>
        <p:nvPicPr>
          <p:cNvPr id="7" name="Picture 6">
            <a:extLst>
              <a:ext uri="{FF2B5EF4-FFF2-40B4-BE49-F238E27FC236}">
                <a16:creationId xmlns:a16="http://schemas.microsoft.com/office/drawing/2014/main" id="{88ECC85F-3C86-0D04-F8F6-934F78C6D4DC}"/>
              </a:ext>
            </a:extLst>
          </p:cNvPr>
          <p:cNvPicPr>
            <a:picLocks noChangeAspect="1"/>
          </p:cNvPicPr>
          <p:nvPr/>
        </p:nvPicPr>
        <p:blipFill>
          <a:blip r:embed="rId5"/>
          <a:stretch>
            <a:fillRect/>
          </a:stretch>
        </p:blipFill>
        <p:spPr>
          <a:xfrm>
            <a:off x="6574661" y="4548541"/>
            <a:ext cx="5610366" cy="1234761"/>
          </a:xfrm>
          <a:prstGeom prst="rect">
            <a:avLst/>
          </a:prstGeom>
        </p:spPr>
      </p:pic>
    </p:spTree>
    <p:extLst>
      <p:ext uri="{BB962C8B-B14F-4D97-AF65-F5344CB8AC3E}">
        <p14:creationId xmlns:p14="http://schemas.microsoft.com/office/powerpoint/2010/main" val="20501282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D8FF9E-4486-323D-B290-829F7F50ED54}"/>
              </a:ext>
            </a:extLst>
          </p:cNvPr>
          <p:cNvSpPr>
            <a:spLocks noGrp="1"/>
          </p:cNvSpPr>
          <p:nvPr>
            <p:ph type="title"/>
          </p:nvPr>
        </p:nvSpPr>
        <p:spPr>
          <a:xfrm>
            <a:off x="4267200" y="2766218"/>
            <a:ext cx="2723147" cy="1325563"/>
          </a:xfrm>
        </p:spPr>
        <p:txBody>
          <a:bodyPr/>
          <a:lstStyle/>
          <a:p>
            <a:r>
              <a:rPr lang="en-US" dirty="0"/>
              <a:t>PLFA Data</a:t>
            </a:r>
          </a:p>
        </p:txBody>
      </p:sp>
    </p:spTree>
    <p:extLst>
      <p:ext uri="{BB962C8B-B14F-4D97-AF65-F5344CB8AC3E}">
        <p14:creationId xmlns:p14="http://schemas.microsoft.com/office/powerpoint/2010/main" val="2756224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9C8B7D-B583-7429-74F6-F5BEC558B9DD}"/>
              </a:ext>
            </a:extLst>
          </p:cNvPr>
          <p:cNvSpPr>
            <a:spLocks noGrp="1"/>
          </p:cNvSpPr>
          <p:nvPr>
            <p:ph type="title"/>
          </p:nvPr>
        </p:nvSpPr>
        <p:spPr/>
        <p:txBody>
          <a:bodyPr/>
          <a:lstStyle/>
          <a:p>
            <a:r>
              <a:rPr lang="en-US" dirty="0"/>
              <a:t>PLFA: Gram(–) Biomass and Gram(+) Biomass</a:t>
            </a:r>
          </a:p>
        </p:txBody>
      </p:sp>
      <p:pic>
        <p:nvPicPr>
          <p:cNvPr id="7" name="Picture 6">
            <a:extLst>
              <a:ext uri="{FF2B5EF4-FFF2-40B4-BE49-F238E27FC236}">
                <a16:creationId xmlns:a16="http://schemas.microsoft.com/office/drawing/2014/main" id="{351AA0F2-F6D2-E50E-1431-71E1AAA51070}"/>
              </a:ext>
            </a:extLst>
          </p:cNvPr>
          <p:cNvPicPr>
            <a:picLocks noChangeAspect="1"/>
          </p:cNvPicPr>
          <p:nvPr/>
        </p:nvPicPr>
        <p:blipFill rotWithShape="1">
          <a:blip r:embed="rId2"/>
          <a:srcRect l="1122"/>
          <a:stretch/>
        </p:blipFill>
        <p:spPr>
          <a:xfrm>
            <a:off x="0" y="1418486"/>
            <a:ext cx="12050829" cy="3767237"/>
          </a:xfrm>
          <a:prstGeom prst="rect">
            <a:avLst/>
          </a:prstGeom>
        </p:spPr>
      </p:pic>
      <p:pic>
        <p:nvPicPr>
          <p:cNvPr id="8" name="Picture 7">
            <a:extLst>
              <a:ext uri="{FF2B5EF4-FFF2-40B4-BE49-F238E27FC236}">
                <a16:creationId xmlns:a16="http://schemas.microsoft.com/office/drawing/2014/main" id="{29456FB2-E8DF-C8EE-CDF1-A2A3AA002822}"/>
              </a:ext>
            </a:extLst>
          </p:cNvPr>
          <p:cNvPicPr>
            <a:picLocks noChangeAspect="1"/>
          </p:cNvPicPr>
          <p:nvPr/>
        </p:nvPicPr>
        <p:blipFill>
          <a:blip r:embed="rId3"/>
          <a:stretch>
            <a:fillRect/>
          </a:stretch>
        </p:blipFill>
        <p:spPr>
          <a:xfrm>
            <a:off x="572306" y="5185723"/>
            <a:ext cx="5523694" cy="1215686"/>
          </a:xfrm>
          <a:prstGeom prst="rect">
            <a:avLst/>
          </a:prstGeom>
        </p:spPr>
      </p:pic>
      <p:pic>
        <p:nvPicPr>
          <p:cNvPr id="9" name="Picture 8">
            <a:extLst>
              <a:ext uri="{FF2B5EF4-FFF2-40B4-BE49-F238E27FC236}">
                <a16:creationId xmlns:a16="http://schemas.microsoft.com/office/drawing/2014/main" id="{1806F377-2E4D-6BDF-4AD1-8736466F470A}"/>
              </a:ext>
            </a:extLst>
          </p:cNvPr>
          <p:cNvPicPr>
            <a:picLocks noChangeAspect="1"/>
          </p:cNvPicPr>
          <p:nvPr/>
        </p:nvPicPr>
        <p:blipFill>
          <a:blip r:embed="rId3"/>
          <a:stretch>
            <a:fillRect/>
          </a:stretch>
        </p:blipFill>
        <p:spPr>
          <a:xfrm>
            <a:off x="6527135" y="5185723"/>
            <a:ext cx="5523694" cy="1215686"/>
          </a:xfrm>
          <a:prstGeom prst="rect">
            <a:avLst/>
          </a:prstGeom>
        </p:spPr>
      </p:pic>
    </p:spTree>
    <p:extLst>
      <p:ext uri="{BB962C8B-B14F-4D97-AF65-F5344CB8AC3E}">
        <p14:creationId xmlns:p14="http://schemas.microsoft.com/office/powerpoint/2010/main" val="10779919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710206-1B87-8331-4B53-9BE2E15DC290}"/>
              </a:ext>
            </a:extLst>
          </p:cNvPr>
          <p:cNvSpPr>
            <a:spLocks noGrp="1"/>
          </p:cNvSpPr>
          <p:nvPr>
            <p:ph type="title"/>
          </p:nvPr>
        </p:nvSpPr>
        <p:spPr>
          <a:xfrm>
            <a:off x="733097" y="81345"/>
            <a:ext cx="10515600" cy="1325563"/>
          </a:xfrm>
        </p:spPr>
        <p:txBody>
          <a:bodyPr/>
          <a:lstStyle/>
          <a:p>
            <a:r>
              <a:rPr lang="en-US" dirty="0"/>
              <a:t>PLFA: Protozoa Biomass </a:t>
            </a:r>
          </a:p>
        </p:txBody>
      </p:sp>
      <p:pic>
        <p:nvPicPr>
          <p:cNvPr id="5" name="Picture 4">
            <a:extLst>
              <a:ext uri="{FF2B5EF4-FFF2-40B4-BE49-F238E27FC236}">
                <a16:creationId xmlns:a16="http://schemas.microsoft.com/office/drawing/2014/main" id="{6A7D7CD7-962D-CBB2-F5BB-CEA34E31E7C7}"/>
              </a:ext>
            </a:extLst>
          </p:cNvPr>
          <p:cNvPicPr>
            <a:picLocks noChangeAspect="1"/>
          </p:cNvPicPr>
          <p:nvPr/>
        </p:nvPicPr>
        <p:blipFill rotWithShape="1">
          <a:blip r:embed="rId2"/>
          <a:srcRect t="6293"/>
          <a:stretch/>
        </p:blipFill>
        <p:spPr>
          <a:xfrm>
            <a:off x="0" y="1710221"/>
            <a:ext cx="6204192" cy="3485143"/>
          </a:xfrm>
          <a:prstGeom prst="rect">
            <a:avLst/>
          </a:prstGeom>
        </p:spPr>
      </p:pic>
      <p:sp>
        <p:nvSpPr>
          <p:cNvPr id="7" name="TextBox 6">
            <a:extLst>
              <a:ext uri="{FF2B5EF4-FFF2-40B4-BE49-F238E27FC236}">
                <a16:creationId xmlns:a16="http://schemas.microsoft.com/office/drawing/2014/main" id="{89AE7A52-8B14-2B72-4632-0A4EF4E82697}"/>
              </a:ext>
            </a:extLst>
          </p:cNvPr>
          <p:cNvSpPr txBox="1"/>
          <p:nvPr/>
        </p:nvSpPr>
        <p:spPr>
          <a:xfrm>
            <a:off x="439245" y="871586"/>
            <a:ext cx="8285655" cy="461665"/>
          </a:xfrm>
          <a:prstGeom prst="rect">
            <a:avLst/>
          </a:prstGeom>
          <a:noFill/>
        </p:spPr>
        <p:txBody>
          <a:bodyPr wrap="square" rtlCol="0">
            <a:spAutoFit/>
          </a:bodyPr>
          <a:lstStyle/>
          <a:p>
            <a:r>
              <a:rPr lang="en-US" sz="2400" dirty="0"/>
              <a:t>70% of Soil Respiration may be attributed to Protozoa</a:t>
            </a:r>
          </a:p>
        </p:txBody>
      </p:sp>
      <p:sp>
        <p:nvSpPr>
          <p:cNvPr id="10" name="Title 1">
            <a:extLst>
              <a:ext uri="{FF2B5EF4-FFF2-40B4-BE49-F238E27FC236}">
                <a16:creationId xmlns:a16="http://schemas.microsoft.com/office/drawing/2014/main" id="{296842AA-6AD4-E39D-3C5C-F7020A3F402F}"/>
              </a:ext>
            </a:extLst>
          </p:cNvPr>
          <p:cNvSpPr txBox="1">
            <a:spLocks/>
          </p:cNvSpPr>
          <p:nvPr/>
        </p:nvSpPr>
        <p:spPr>
          <a:xfrm>
            <a:off x="2375477" y="1292239"/>
            <a:ext cx="2900854" cy="54506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latin typeface="+mn-lt"/>
              </a:rPr>
              <a:t>Protozoa Biomass (ug/g) </a:t>
            </a:r>
          </a:p>
        </p:txBody>
      </p:sp>
      <p:pic>
        <p:nvPicPr>
          <p:cNvPr id="11" name="Picture 10">
            <a:extLst>
              <a:ext uri="{FF2B5EF4-FFF2-40B4-BE49-F238E27FC236}">
                <a16:creationId xmlns:a16="http://schemas.microsoft.com/office/drawing/2014/main" id="{D9D37440-01A0-3564-0283-3C8CFB91AA55}"/>
              </a:ext>
            </a:extLst>
          </p:cNvPr>
          <p:cNvPicPr>
            <a:picLocks noChangeAspect="1"/>
          </p:cNvPicPr>
          <p:nvPr/>
        </p:nvPicPr>
        <p:blipFill>
          <a:blip r:embed="rId3"/>
          <a:stretch>
            <a:fillRect/>
          </a:stretch>
        </p:blipFill>
        <p:spPr>
          <a:xfrm>
            <a:off x="11135758" y="21298"/>
            <a:ext cx="1056242" cy="956441"/>
          </a:xfrm>
          <a:prstGeom prst="rect">
            <a:avLst/>
          </a:prstGeom>
        </p:spPr>
      </p:pic>
      <p:sp>
        <p:nvSpPr>
          <p:cNvPr id="13" name="TextBox 12">
            <a:extLst>
              <a:ext uri="{FF2B5EF4-FFF2-40B4-BE49-F238E27FC236}">
                <a16:creationId xmlns:a16="http://schemas.microsoft.com/office/drawing/2014/main" id="{0593D50E-EC2E-9FE4-9914-9D0763619338}"/>
              </a:ext>
            </a:extLst>
          </p:cNvPr>
          <p:cNvSpPr txBox="1"/>
          <p:nvPr/>
        </p:nvSpPr>
        <p:spPr>
          <a:xfrm>
            <a:off x="7395296" y="822991"/>
            <a:ext cx="6093822" cy="369332"/>
          </a:xfrm>
          <a:prstGeom prst="rect">
            <a:avLst/>
          </a:prstGeom>
          <a:noFill/>
        </p:spPr>
        <p:txBody>
          <a:bodyPr wrap="square">
            <a:spAutoFit/>
          </a:bodyPr>
          <a:lstStyle/>
          <a:p>
            <a:r>
              <a:rPr lang="en-US" sz="1800" b="0" i="0" dirty="0" err="1">
                <a:solidFill>
                  <a:srgbClr val="222222"/>
                </a:solidFill>
                <a:effectLst/>
                <a:latin typeface="Arial" panose="020B0604020202020204" pitchFamily="34" charset="0"/>
              </a:rPr>
              <a:t>Foissner</a:t>
            </a:r>
            <a:r>
              <a:rPr lang="en-US" sz="1800" b="0" i="0" dirty="0">
                <a:solidFill>
                  <a:srgbClr val="222222"/>
                </a:solidFill>
                <a:effectLst/>
                <a:latin typeface="Arial" panose="020B0604020202020204" pitchFamily="34" charset="0"/>
              </a:rPr>
              <a:t>, W., 1999. </a:t>
            </a:r>
            <a:endParaRPr lang="en-US" dirty="0"/>
          </a:p>
        </p:txBody>
      </p:sp>
      <p:pic>
        <p:nvPicPr>
          <p:cNvPr id="9" name="Picture 8">
            <a:extLst>
              <a:ext uri="{FF2B5EF4-FFF2-40B4-BE49-F238E27FC236}">
                <a16:creationId xmlns:a16="http://schemas.microsoft.com/office/drawing/2014/main" id="{2D306A4A-620D-614F-13C4-2ED0DF6E93E6}"/>
              </a:ext>
            </a:extLst>
          </p:cNvPr>
          <p:cNvPicPr>
            <a:picLocks noChangeAspect="1"/>
          </p:cNvPicPr>
          <p:nvPr/>
        </p:nvPicPr>
        <p:blipFill>
          <a:blip r:embed="rId4"/>
          <a:stretch>
            <a:fillRect/>
          </a:stretch>
        </p:blipFill>
        <p:spPr>
          <a:xfrm>
            <a:off x="6199992" y="1292239"/>
            <a:ext cx="5975332" cy="4121152"/>
          </a:xfrm>
          <a:prstGeom prst="rect">
            <a:avLst/>
          </a:prstGeom>
        </p:spPr>
      </p:pic>
      <p:pic>
        <p:nvPicPr>
          <p:cNvPr id="17" name="Picture 16">
            <a:extLst>
              <a:ext uri="{FF2B5EF4-FFF2-40B4-BE49-F238E27FC236}">
                <a16:creationId xmlns:a16="http://schemas.microsoft.com/office/drawing/2014/main" id="{E04D061D-861B-3B45-642C-C7C588BBCD13}"/>
              </a:ext>
            </a:extLst>
          </p:cNvPr>
          <p:cNvPicPr>
            <a:picLocks noChangeAspect="1"/>
          </p:cNvPicPr>
          <p:nvPr/>
        </p:nvPicPr>
        <p:blipFill>
          <a:blip r:embed="rId5"/>
          <a:stretch>
            <a:fillRect/>
          </a:stretch>
        </p:blipFill>
        <p:spPr>
          <a:xfrm>
            <a:off x="332209" y="4982374"/>
            <a:ext cx="5898349" cy="1298142"/>
          </a:xfrm>
          <a:prstGeom prst="rect">
            <a:avLst/>
          </a:prstGeom>
        </p:spPr>
      </p:pic>
      <p:pic>
        <p:nvPicPr>
          <p:cNvPr id="18" name="Picture 17">
            <a:extLst>
              <a:ext uri="{FF2B5EF4-FFF2-40B4-BE49-F238E27FC236}">
                <a16:creationId xmlns:a16="http://schemas.microsoft.com/office/drawing/2014/main" id="{A5DBC91E-41CF-E652-65B3-DA7F6939B23E}"/>
              </a:ext>
            </a:extLst>
          </p:cNvPr>
          <p:cNvPicPr>
            <a:picLocks noChangeAspect="1"/>
          </p:cNvPicPr>
          <p:nvPr/>
        </p:nvPicPr>
        <p:blipFill>
          <a:blip r:embed="rId5"/>
          <a:stretch>
            <a:fillRect/>
          </a:stretch>
        </p:blipFill>
        <p:spPr>
          <a:xfrm>
            <a:off x="6428209" y="5197538"/>
            <a:ext cx="5747115" cy="1264858"/>
          </a:xfrm>
          <a:prstGeom prst="rect">
            <a:avLst/>
          </a:prstGeom>
        </p:spPr>
      </p:pic>
    </p:spTree>
    <p:extLst>
      <p:ext uri="{BB962C8B-B14F-4D97-AF65-F5344CB8AC3E}">
        <p14:creationId xmlns:p14="http://schemas.microsoft.com/office/powerpoint/2010/main" val="2235793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99629-16D8-3DB9-70F9-627422F1006E}"/>
              </a:ext>
            </a:extLst>
          </p:cNvPr>
          <p:cNvSpPr>
            <a:spLocks noGrp="1"/>
          </p:cNvSpPr>
          <p:nvPr>
            <p:ph type="title"/>
          </p:nvPr>
        </p:nvSpPr>
        <p:spPr>
          <a:xfrm>
            <a:off x="0" y="313810"/>
            <a:ext cx="11964202" cy="762789"/>
          </a:xfrm>
        </p:spPr>
        <p:txBody>
          <a:bodyPr/>
          <a:lstStyle/>
          <a:p>
            <a:r>
              <a:rPr lang="en-US" dirty="0"/>
              <a:t>PLFA: Bacterial and Fungal Biomass</a:t>
            </a:r>
          </a:p>
        </p:txBody>
      </p:sp>
      <p:pic>
        <p:nvPicPr>
          <p:cNvPr id="11" name="Picture 10">
            <a:extLst>
              <a:ext uri="{FF2B5EF4-FFF2-40B4-BE49-F238E27FC236}">
                <a16:creationId xmlns:a16="http://schemas.microsoft.com/office/drawing/2014/main" id="{5AFFF8AE-635D-A6EC-757B-B93709FF97F8}"/>
              </a:ext>
            </a:extLst>
          </p:cNvPr>
          <p:cNvPicPr>
            <a:picLocks noChangeAspect="1"/>
          </p:cNvPicPr>
          <p:nvPr/>
        </p:nvPicPr>
        <p:blipFill>
          <a:blip r:embed="rId2"/>
          <a:stretch>
            <a:fillRect/>
          </a:stretch>
        </p:blipFill>
        <p:spPr>
          <a:xfrm>
            <a:off x="11135758" y="0"/>
            <a:ext cx="1056242" cy="956441"/>
          </a:xfrm>
          <a:prstGeom prst="rect">
            <a:avLst/>
          </a:prstGeom>
        </p:spPr>
      </p:pic>
      <p:pic>
        <p:nvPicPr>
          <p:cNvPr id="4" name="Picture 3">
            <a:extLst>
              <a:ext uri="{FF2B5EF4-FFF2-40B4-BE49-F238E27FC236}">
                <a16:creationId xmlns:a16="http://schemas.microsoft.com/office/drawing/2014/main" id="{CCB63B46-CFEF-243A-251A-196CE6AFE918}"/>
              </a:ext>
            </a:extLst>
          </p:cNvPr>
          <p:cNvPicPr>
            <a:picLocks noChangeAspect="1"/>
          </p:cNvPicPr>
          <p:nvPr/>
        </p:nvPicPr>
        <p:blipFill>
          <a:blip r:embed="rId3"/>
          <a:stretch>
            <a:fillRect/>
          </a:stretch>
        </p:blipFill>
        <p:spPr>
          <a:xfrm>
            <a:off x="6068094" y="1659409"/>
            <a:ext cx="6123906" cy="3707524"/>
          </a:xfrm>
          <a:prstGeom prst="rect">
            <a:avLst/>
          </a:prstGeom>
        </p:spPr>
      </p:pic>
      <p:pic>
        <p:nvPicPr>
          <p:cNvPr id="13" name="Picture 12">
            <a:extLst>
              <a:ext uri="{FF2B5EF4-FFF2-40B4-BE49-F238E27FC236}">
                <a16:creationId xmlns:a16="http://schemas.microsoft.com/office/drawing/2014/main" id="{23B3FF81-F047-C45A-5634-44F9153A553F}"/>
              </a:ext>
            </a:extLst>
          </p:cNvPr>
          <p:cNvPicPr>
            <a:picLocks noChangeAspect="1"/>
          </p:cNvPicPr>
          <p:nvPr/>
        </p:nvPicPr>
        <p:blipFill>
          <a:blip r:embed="rId4"/>
          <a:stretch>
            <a:fillRect/>
          </a:stretch>
        </p:blipFill>
        <p:spPr>
          <a:xfrm>
            <a:off x="0" y="1659409"/>
            <a:ext cx="6068094" cy="3645070"/>
          </a:xfrm>
          <a:prstGeom prst="rect">
            <a:avLst/>
          </a:prstGeom>
        </p:spPr>
      </p:pic>
      <p:pic>
        <p:nvPicPr>
          <p:cNvPr id="3" name="Picture 2">
            <a:extLst>
              <a:ext uri="{FF2B5EF4-FFF2-40B4-BE49-F238E27FC236}">
                <a16:creationId xmlns:a16="http://schemas.microsoft.com/office/drawing/2014/main" id="{F8EA0A83-F379-F116-89C2-C76FDED31322}"/>
              </a:ext>
            </a:extLst>
          </p:cNvPr>
          <p:cNvPicPr>
            <a:picLocks noChangeAspect="1"/>
          </p:cNvPicPr>
          <p:nvPr/>
        </p:nvPicPr>
        <p:blipFill>
          <a:blip r:embed="rId5"/>
          <a:stretch>
            <a:fillRect/>
          </a:stretch>
        </p:blipFill>
        <p:spPr>
          <a:xfrm>
            <a:off x="443969" y="5063654"/>
            <a:ext cx="5652031" cy="1243931"/>
          </a:xfrm>
          <a:prstGeom prst="rect">
            <a:avLst/>
          </a:prstGeom>
        </p:spPr>
      </p:pic>
      <p:pic>
        <p:nvPicPr>
          <p:cNvPr id="5" name="Picture 4">
            <a:extLst>
              <a:ext uri="{FF2B5EF4-FFF2-40B4-BE49-F238E27FC236}">
                <a16:creationId xmlns:a16="http://schemas.microsoft.com/office/drawing/2014/main" id="{CED52018-91DE-38F3-B8FF-8C69620D9972}"/>
              </a:ext>
            </a:extLst>
          </p:cNvPr>
          <p:cNvPicPr>
            <a:picLocks noChangeAspect="1"/>
          </p:cNvPicPr>
          <p:nvPr/>
        </p:nvPicPr>
        <p:blipFill>
          <a:blip r:embed="rId5"/>
          <a:stretch>
            <a:fillRect/>
          </a:stretch>
        </p:blipFill>
        <p:spPr>
          <a:xfrm>
            <a:off x="6484157" y="5154141"/>
            <a:ext cx="5758643" cy="1267395"/>
          </a:xfrm>
          <a:prstGeom prst="rect">
            <a:avLst/>
          </a:prstGeom>
        </p:spPr>
      </p:pic>
    </p:spTree>
    <p:extLst>
      <p:ext uri="{BB962C8B-B14F-4D97-AF65-F5344CB8AC3E}">
        <p14:creationId xmlns:p14="http://schemas.microsoft.com/office/powerpoint/2010/main" val="4937519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E05691-70DF-1E32-6AEE-7CC82006E145}"/>
              </a:ext>
            </a:extLst>
          </p:cNvPr>
          <p:cNvSpPr>
            <a:spLocks noGrp="1"/>
          </p:cNvSpPr>
          <p:nvPr>
            <p:ph type="title"/>
          </p:nvPr>
        </p:nvSpPr>
        <p:spPr>
          <a:xfrm>
            <a:off x="0" y="0"/>
            <a:ext cx="7240985" cy="1552946"/>
          </a:xfrm>
        </p:spPr>
        <p:txBody>
          <a:bodyPr/>
          <a:lstStyle/>
          <a:p>
            <a:r>
              <a:rPr lang="en-US" dirty="0"/>
              <a:t>PLFA: Microbial Biomass and Electrical Conductivity </a:t>
            </a:r>
          </a:p>
        </p:txBody>
      </p:sp>
      <p:pic>
        <p:nvPicPr>
          <p:cNvPr id="7" name="Picture 6">
            <a:extLst>
              <a:ext uri="{FF2B5EF4-FFF2-40B4-BE49-F238E27FC236}">
                <a16:creationId xmlns:a16="http://schemas.microsoft.com/office/drawing/2014/main" id="{79831C25-1194-E09E-E2CB-ADB8C88BEFF6}"/>
              </a:ext>
            </a:extLst>
          </p:cNvPr>
          <p:cNvPicPr>
            <a:picLocks noChangeAspect="1"/>
          </p:cNvPicPr>
          <p:nvPr/>
        </p:nvPicPr>
        <p:blipFill rotWithShape="1">
          <a:blip r:embed="rId3"/>
          <a:srcRect l="2919" r="33831" b="12176"/>
          <a:stretch/>
        </p:blipFill>
        <p:spPr>
          <a:xfrm>
            <a:off x="4480560" y="1660359"/>
            <a:ext cx="7666090" cy="4261244"/>
          </a:xfrm>
          <a:prstGeom prst="rect">
            <a:avLst/>
          </a:prstGeom>
        </p:spPr>
      </p:pic>
      <p:pic>
        <p:nvPicPr>
          <p:cNvPr id="10" name="Picture 9">
            <a:extLst>
              <a:ext uri="{FF2B5EF4-FFF2-40B4-BE49-F238E27FC236}">
                <a16:creationId xmlns:a16="http://schemas.microsoft.com/office/drawing/2014/main" id="{53CBA9BA-7E8A-5395-FDC4-3ADA2BBBF58C}"/>
              </a:ext>
            </a:extLst>
          </p:cNvPr>
          <p:cNvPicPr>
            <a:picLocks noChangeAspect="1"/>
          </p:cNvPicPr>
          <p:nvPr/>
        </p:nvPicPr>
        <p:blipFill rotWithShape="1">
          <a:blip r:embed="rId3"/>
          <a:srcRect l="66790" t="31365" b="36597"/>
          <a:stretch/>
        </p:blipFill>
        <p:spPr>
          <a:xfrm>
            <a:off x="8849360" y="1"/>
            <a:ext cx="3342640" cy="1290900"/>
          </a:xfrm>
          <a:prstGeom prst="rect">
            <a:avLst/>
          </a:prstGeom>
        </p:spPr>
      </p:pic>
      <p:pic>
        <p:nvPicPr>
          <p:cNvPr id="3" name="Picture 2">
            <a:extLst>
              <a:ext uri="{FF2B5EF4-FFF2-40B4-BE49-F238E27FC236}">
                <a16:creationId xmlns:a16="http://schemas.microsoft.com/office/drawing/2014/main" id="{349F4238-11DE-6614-84FE-880D21B3E824}"/>
              </a:ext>
            </a:extLst>
          </p:cNvPr>
          <p:cNvPicPr>
            <a:picLocks noChangeAspect="1"/>
          </p:cNvPicPr>
          <p:nvPr/>
        </p:nvPicPr>
        <p:blipFill>
          <a:blip r:embed="rId4"/>
          <a:stretch>
            <a:fillRect/>
          </a:stretch>
        </p:blipFill>
        <p:spPr>
          <a:xfrm>
            <a:off x="5043240" y="5921603"/>
            <a:ext cx="3574380" cy="786670"/>
          </a:xfrm>
          <a:prstGeom prst="rect">
            <a:avLst/>
          </a:prstGeom>
        </p:spPr>
      </p:pic>
      <p:pic>
        <p:nvPicPr>
          <p:cNvPr id="4" name="Picture 3">
            <a:extLst>
              <a:ext uri="{FF2B5EF4-FFF2-40B4-BE49-F238E27FC236}">
                <a16:creationId xmlns:a16="http://schemas.microsoft.com/office/drawing/2014/main" id="{DA6616E4-7795-843F-8FCB-0263F55EA37F}"/>
              </a:ext>
            </a:extLst>
          </p:cNvPr>
          <p:cNvPicPr>
            <a:picLocks noChangeAspect="1"/>
          </p:cNvPicPr>
          <p:nvPr/>
        </p:nvPicPr>
        <p:blipFill>
          <a:blip r:embed="rId4"/>
          <a:stretch>
            <a:fillRect/>
          </a:stretch>
        </p:blipFill>
        <p:spPr>
          <a:xfrm>
            <a:off x="8617620" y="5921603"/>
            <a:ext cx="3574380" cy="786670"/>
          </a:xfrm>
          <a:prstGeom prst="rect">
            <a:avLst/>
          </a:prstGeom>
        </p:spPr>
      </p:pic>
      <p:pic>
        <p:nvPicPr>
          <p:cNvPr id="6" name="Picture 5">
            <a:extLst>
              <a:ext uri="{FF2B5EF4-FFF2-40B4-BE49-F238E27FC236}">
                <a16:creationId xmlns:a16="http://schemas.microsoft.com/office/drawing/2014/main" id="{6E847147-3D2D-F36A-6CAA-2E75122C6C20}"/>
              </a:ext>
            </a:extLst>
          </p:cNvPr>
          <p:cNvPicPr>
            <a:picLocks noChangeAspect="1"/>
          </p:cNvPicPr>
          <p:nvPr/>
        </p:nvPicPr>
        <p:blipFill>
          <a:blip r:embed="rId5"/>
          <a:stretch>
            <a:fillRect/>
          </a:stretch>
        </p:blipFill>
        <p:spPr>
          <a:xfrm>
            <a:off x="45350" y="2165814"/>
            <a:ext cx="4468127" cy="2924345"/>
          </a:xfrm>
          <a:prstGeom prst="rect">
            <a:avLst/>
          </a:prstGeom>
        </p:spPr>
      </p:pic>
      <p:sp>
        <p:nvSpPr>
          <p:cNvPr id="13" name="TextBox 12">
            <a:extLst>
              <a:ext uri="{FF2B5EF4-FFF2-40B4-BE49-F238E27FC236}">
                <a16:creationId xmlns:a16="http://schemas.microsoft.com/office/drawing/2014/main" id="{9CAC06F5-C181-BBCA-7C19-FBF23244C85C}"/>
              </a:ext>
            </a:extLst>
          </p:cNvPr>
          <p:cNvSpPr txBox="1"/>
          <p:nvPr/>
        </p:nvSpPr>
        <p:spPr>
          <a:xfrm>
            <a:off x="7180258" y="1294911"/>
            <a:ext cx="3358017" cy="400110"/>
          </a:xfrm>
          <a:prstGeom prst="rect">
            <a:avLst/>
          </a:prstGeom>
          <a:noFill/>
        </p:spPr>
        <p:txBody>
          <a:bodyPr wrap="square" rtlCol="0">
            <a:spAutoFit/>
          </a:bodyPr>
          <a:lstStyle/>
          <a:p>
            <a:r>
              <a:rPr lang="en-US" sz="2000" dirty="0"/>
              <a:t>Microbial Biomass (ug/g)</a:t>
            </a:r>
          </a:p>
        </p:txBody>
      </p:sp>
      <p:pic>
        <p:nvPicPr>
          <p:cNvPr id="14" name="Picture 13">
            <a:extLst>
              <a:ext uri="{FF2B5EF4-FFF2-40B4-BE49-F238E27FC236}">
                <a16:creationId xmlns:a16="http://schemas.microsoft.com/office/drawing/2014/main" id="{F0EADA07-97C3-0191-EF98-8F7085A82C44}"/>
              </a:ext>
            </a:extLst>
          </p:cNvPr>
          <p:cNvPicPr>
            <a:picLocks noChangeAspect="1"/>
          </p:cNvPicPr>
          <p:nvPr/>
        </p:nvPicPr>
        <p:blipFill>
          <a:blip r:embed="rId4"/>
          <a:stretch>
            <a:fillRect/>
          </a:stretch>
        </p:blipFill>
        <p:spPr>
          <a:xfrm>
            <a:off x="349319" y="5112545"/>
            <a:ext cx="4164157" cy="916471"/>
          </a:xfrm>
          <a:prstGeom prst="rect">
            <a:avLst/>
          </a:prstGeom>
        </p:spPr>
      </p:pic>
    </p:spTree>
    <p:extLst>
      <p:ext uri="{BB962C8B-B14F-4D97-AF65-F5344CB8AC3E}">
        <p14:creationId xmlns:p14="http://schemas.microsoft.com/office/powerpoint/2010/main" val="15176447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99629-16D8-3DB9-70F9-627422F1006E}"/>
              </a:ext>
            </a:extLst>
          </p:cNvPr>
          <p:cNvSpPr>
            <a:spLocks noGrp="1"/>
          </p:cNvSpPr>
          <p:nvPr>
            <p:ph type="title"/>
          </p:nvPr>
        </p:nvSpPr>
        <p:spPr>
          <a:xfrm>
            <a:off x="78785" y="0"/>
            <a:ext cx="6123511" cy="1638760"/>
          </a:xfrm>
        </p:spPr>
        <p:txBody>
          <a:bodyPr/>
          <a:lstStyle/>
          <a:p>
            <a:r>
              <a:rPr lang="en-US" dirty="0"/>
              <a:t>PLFA: Microbial Biomass and Respiration</a:t>
            </a:r>
          </a:p>
        </p:txBody>
      </p:sp>
      <p:pic>
        <p:nvPicPr>
          <p:cNvPr id="11" name="Picture 10">
            <a:extLst>
              <a:ext uri="{FF2B5EF4-FFF2-40B4-BE49-F238E27FC236}">
                <a16:creationId xmlns:a16="http://schemas.microsoft.com/office/drawing/2014/main" id="{5AFFF8AE-635D-A6EC-757B-B93709FF97F8}"/>
              </a:ext>
            </a:extLst>
          </p:cNvPr>
          <p:cNvPicPr>
            <a:picLocks noChangeAspect="1"/>
          </p:cNvPicPr>
          <p:nvPr/>
        </p:nvPicPr>
        <p:blipFill>
          <a:blip r:embed="rId2"/>
          <a:stretch>
            <a:fillRect/>
          </a:stretch>
        </p:blipFill>
        <p:spPr>
          <a:xfrm>
            <a:off x="3979225" y="779409"/>
            <a:ext cx="1056242" cy="956441"/>
          </a:xfrm>
          <a:prstGeom prst="rect">
            <a:avLst/>
          </a:prstGeom>
        </p:spPr>
      </p:pic>
      <p:pic>
        <p:nvPicPr>
          <p:cNvPr id="4" name="Picture 3">
            <a:extLst>
              <a:ext uri="{FF2B5EF4-FFF2-40B4-BE49-F238E27FC236}">
                <a16:creationId xmlns:a16="http://schemas.microsoft.com/office/drawing/2014/main" id="{0F7D0DF4-7E90-8685-8D13-724A13FE5FC0}"/>
              </a:ext>
            </a:extLst>
          </p:cNvPr>
          <p:cNvPicPr>
            <a:picLocks noChangeAspect="1"/>
          </p:cNvPicPr>
          <p:nvPr/>
        </p:nvPicPr>
        <p:blipFill rotWithShape="1">
          <a:blip r:embed="rId3"/>
          <a:srcRect t="7170"/>
          <a:stretch/>
        </p:blipFill>
        <p:spPr>
          <a:xfrm>
            <a:off x="6426199" y="3241963"/>
            <a:ext cx="5235150" cy="2895633"/>
          </a:xfrm>
          <a:prstGeom prst="rect">
            <a:avLst/>
          </a:prstGeom>
        </p:spPr>
      </p:pic>
      <p:pic>
        <p:nvPicPr>
          <p:cNvPr id="8" name="Picture 7">
            <a:extLst>
              <a:ext uri="{FF2B5EF4-FFF2-40B4-BE49-F238E27FC236}">
                <a16:creationId xmlns:a16="http://schemas.microsoft.com/office/drawing/2014/main" id="{EF8B2462-8040-50A5-0005-A2BBBF80A1F3}"/>
              </a:ext>
            </a:extLst>
          </p:cNvPr>
          <p:cNvPicPr>
            <a:picLocks noChangeAspect="1"/>
          </p:cNvPicPr>
          <p:nvPr/>
        </p:nvPicPr>
        <p:blipFill>
          <a:blip r:embed="rId4"/>
          <a:stretch>
            <a:fillRect/>
          </a:stretch>
        </p:blipFill>
        <p:spPr>
          <a:xfrm>
            <a:off x="295941" y="2026402"/>
            <a:ext cx="5345163" cy="3308684"/>
          </a:xfrm>
          <a:prstGeom prst="rect">
            <a:avLst/>
          </a:prstGeom>
        </p:spPr>
      </p:pic>
      <p:pic>
        <p:nvPicPr>
          <p:cNvPr id="3" name="Picture 2">
            <a:extLst>
              <a:ext uri="{FF2B5EF4-FFF2-40B4-BE49-F238E27FC236}">
                <a16:creationId xmlns:a16="http://schemas.microsoft.com/office/drawing/2014/main" id="{25F6EB9F-3A36-6918-57AA-DE368F893D52}"/>
              </a:ext>
            </a:extLst>
          </p:cNvPr>
          <p:cNvPicPr>
            <a:picLocks noChangeAspect="1"/>
          </p:cNvPicPr>
          <p:nvPr/>
        </p:nvPicPr>
        <p:blipFill rotWithShape="1">
          <a:blip r:embed="rId5"/>
          <a:srcRect l="1596" t="4379" r="-931" b="5823"/>
          <a:stretch/>
        </p:blipFill>
        <p:spPr>
          <a:xfrm>
            <a:off x="6609150" y="129310"/>
            <a:ext cx="5153439" cy="3038808"/>
          </a:xfrm>
          <a:prstGeom prst="rect">
            <a:avLst/>
          </a:prstGeom>
        </p:spPr>
      </p:pic>
      <p:sp>
        <p:nvSpPr>
          <p:cNvPr id="7" name="TextBox 6">
            <a:extLst>
              <a:ext uri="{FF2B5EF4-FFF2-40B4-BE49-F238E27FC236}">
                <a16:creationId xmlns:a16="http://schemas.microsoft.com/office/drawing/2014/main" id="{F9A5EB01-838A-FC5C-62FD-7B94F7D537F0}"/>
              </a:ext>
            </a:extLst>
          </p:cNvPr>
          <p:cNvSpPr txBox="1"/>
          <p:nvPr/>
        </p:nvSpPr>
        <p:spPr>
          <a:xfrm>
            <a:off x="7569200" y="5952526"/>
            <a:ext cx="4092150" cy="307777"/>
          </a:xfrm>
          <a:prstGeom prst="rect">
            <a:avLst/>
          </a:prstGeom>
          <a:solidFill>
            <a:srgbClr val="AFADFD"/>
          </a:solidFill>
          <a:ln>
            <a:solidFill>
              <a:srgbClr val="AFADFD"/>
            </a:solidFill>
          </a:ln>
        </p:spPr>
        <p:txBody>
          <a:bodyPr wrap="square" rtlCol="0">
            <a:spAutoFit/>
          </a:bodyPr>
          <a:lstStyle/>
          <a:p>
            <a:pPr algn="ctr"/>
            <a:r>
              <a:rPr lang="en-US" sz="1400" dirty="0"/>
              <a:t>No Till</a:t>
            </a:r>
          </a:p>
        </p:txBody>
      </p:sp>
      <p:sp>
        <p:nvSpPr>
          <p:cNvPr id="12" name="TextBox 11">
            <a:extLst>
              <a:ext uri="{FF2B5EF4-FFF2-40B4-BE49-F238E27FC236}">
                <a16:creationId xmlns:a16="http://schemas.microsoft.com/office/drawing/2014/main" id="{7A51BE07-19F2-152B-206E-447853362F7E}"/>
              </a:ext>
            </a:extLst>
          </p:cNvPr>
          <p:cNvSpPr txBox="1"/>
          <p:nvPr/>
        </p:nvSpPr>
        <p:spPr>
          <a:xfrm>
            <a:off x="9232899" y="6194708"/>
            <a:ext cx="2428450" cy="307777"/>
          </a:xfrm>
          <a:prstGeom prst="rect">
            <a:avLst/>
          </a:prstGeom>
          <a:solidFill>
            <a:srgbClr val="15F3AE"/>
          </a:solidFill>
          <a:ln>
            <a:solidFill>
              <a:srgbClr val="15F3AE"/>
            </a:solidFill>
          </a:ln>
        </p:spPr>
        <p:txBody>
          <a:bodyPr wrap="square" rtlCol="0">
            <a:spAutoFit/>
          </a:bodyPr>
          <a:lstStyle/>
          <a:p>
            <a:pPr algn="ctr"/>
            <a:r>
              <a:rPr lang="en-US" sz="1400" dirty="0"/>
              <a:t>Cover Crop</a:t>
            </a:r>
          </a:p>
        </p:txBody>
      </p:sp>
      <p:sp>
        <p:nvSpPr>
          <p:cNvPr id="13" name="TextBox 12">
            <a:extLst>
              <a:ext uri="{FF2B5EF4-FFF2-40B4-BE49-F238E27FC236}">
                <a16:creationId xmlns:a16="http://schemas.microsoft.com/office/drawing/2014/main" id="{C0BACFC7-E953-77AF-5C1F-92FB5F13F9E8}"/>
              </a:ext>
            </a:extLst>
          </p:cNvPr>
          <p:cNvSpPr txBox="1"/>
          <p:nvPr/>
        </p:nvSpPr>
        <p:spPr>
          <a:xfrm>
            <a:off x="9867900" y="6499022"/>
            <a:ext cx="1793450" cy="307777"/>
          </a:xfrm>
          <a:prstGeom prst="rect">
            <a:avLst/>
          </a:prstGeom>
          <a:solidFill>
            <a:srgbClr val="FF6D9E"/>
          </a:solidFill>
          <a:ln>
            <a:noFill/>
          </a:ln>
        </p:spPr>
        <p:txBody>
          <a:bodyPr wrap="square" rtlCol="0">
            <a:spAutoFit/>
          </a:bodyPr>
          <a:lstStyle/>
          <a:p>
            <a:r>
              <a:rPr lang="en-US" sz="1400" dirty="0"/>
              <a:t>Crop Diversity &gt;= 10</a:t>
            </a:r>
          </a:p>
        </p:txBody>
      </p:sp>
      <p:sp>
        <p:nvSpPr>
          <p:cNvPr id="14" name="TextBox 13">
            <a:extLst>
              <a:ext uri="{FF2B5EF4-FFF2-40B4-BE49-F238E27FC236}">
                <a16:creationId xmlns:a16="http://schemas.microsoft.com/office/drawing/2014/main" id="{B33B0BB2-1B54-F7CD-0811-4DE584958E5C}"/>
              </a:ext>
            </a:extLst>
          </p:cNvPr>
          <p:cNvSpPr txBox="1"/>
          <p:nvPr/>
        </p:nvSpPr>
        <p:spPr>
          <a:xfrm>
            <a:off x="6932645" y="5952085"/>
            <a:ext cx="636554" cy="307777"/>
          </a:xfrm>
          <a:prstGeom prst="rect">
            <a:avLst/>
          </a:prstGeom>
          <a:solidFill>
            <a:srgbClr val="C4C3FD"/>
          </a:solidFill>
          <a:ln>
            <a:solidFill>
              <a:srgbClr val="C4C3FD"/>
            </a:solidFill>
          </a:ln>
        </p:spPr>
        <p:txBody>
          <a:bodyPr wrap="square" rtlCol="0">
            <a:spAutoFit/>
          </a:bodyPr>
          <a:lstStyle/>
          <a:p>
            <a:pPr algn="ctr"/>
            <a:r>
              <a:rPr lang="en-US" sz="1400" dirty="0"/>
              <a:t>Till</a:t>
            </a:r>
          </a:p>
        </p:txBody>
      </p:sp>
      <p:sp>
        <p:nvSpPr>
          <p:cNvPr id="15" name="TextBox 14">
            <a:extLst>
              <a:ext uri="{FF2B5EF4-FFF2-40B4-BE49-F238E27FC236}">
                <a16:creationId xmlns:a16="http://schemas.microsoft.com/office/drawing/2014/main" id="{7A263430-69F1-63F1-40AF-754A44AC0981}"/>
              </a:ext>
            </a:extLst>
          </p:cNvPr>
          <p:cNvSpPr txBox="1"/>
          <p:nvPr/>
        </p:nvSpPr>
        <p:spPr>
          <a:xfrm>
            <a:off x="6932644" y="6211442"/>
            <a:ext cx="2300255" cy="307777"/>
          </a:xfrm>
          <a:prstGeom prst="rect">
            <a:avLst/>
          </a:prstGeom>
          <a:solidFill>
            <a:srgbClr val="94FADA"/>
          </a:solidFill>
          <a:ln>
            <a:solidFill>
              <a:srgbClr val="94FADA"/>
            </a:solidFill>
          </a:ln>
        </p:spPr>
        <p:txBody>
          <a:bodyPr wrap="square" rtlCol="0">
            <a:spAutoFit/>
          </a:bodyPr>
          <a:lstStyle/>
          <a:p>
            <a:pPr algn="ctr"/>
            <a:r>
              <a:rPr lang="en-US" sz="1400" dirty="0"/>
              <a:t>No Cover Crop</a:t>
            </a:r>
          </a:p>
        </p:txBody>
      </p:sp>
      <p:sp>
        <p:nvSpPr>
          <p:cNvPr id="16" name="TextBox 15">
            <a:extLst>
              <a:ext uri="{FF2B5EF4-FFF2-40B4-BE49-F238E27FC236}">
                <a16:creationId xmlns:a16="http://schemas.microsoft.com/office/drawing/2014/main" id="{4EEAC123-6483-4DC7-F47D-6DEF6FAA3B6D}"/>
              </a:ext>
            </a:extLst>
          </p:cNvPr>
          <p:cNvSpPr txBox="1"/>
          <p:nvPr/>
        </p:nvSpPr>
        <p:spPr>
          <a:xfrm>
            <a:off x="6926538" y="6501183"/>
            <a:ext cx="2935257" cy="307777"/>
          </a:xfrm>
          <a:prstGeom prst="rect">
            <a:avLst/>
          </a:prstGeom>
          <a:solidFill>
            <a:srgbClr val="FFB9D0"/>
          </a:solidFill>
          <a:ln>
            <a:noFill/>
          </a:ln>
        </p:spPr>
        <p:txBody>
          <a:bodyPr wrap="square" rtlCol="0">
            <a:spAutoFit/>
          </a:bodyPr>
          <a:lstStyle/>
          <a:p>
            <a:r>
              <a:rPr lang="en-US" sz="1400" dirty="0"/>
              <a:t>Crop Diversity &lt; 10</a:t>
            </a:r>
          </a:p>
        </p:txBody>
      </p:sp>
      <p:sp>
        <p:nvSpPr>
          <p:cNvPr id="17" name="TextBox 16">
            <a:extLst>
              <a:ext uri="{FF2B5EF4-FFF2-40B4-BE49-F238E27FC236}">
                <a16:creationId xmlns:a16="http://schemas.microsoft.com/office/drawing/2014/main" id="{B46EDC53-13D7-2FE2-F04C-630938CC5654}"/>
              </a:ext>
            </a:extLst>
          </p:cNvPr>
          <p:cNvSpPr txBox="1"/>
          <p:nvPr/>
        </p:nvSpPr>
        <p:spPr>
          <a:xfrm rot="16200000">
            <a:off x="4992020" y="1087459"/>
            <a:ext cx="2757514" cy="646331"/>
          </a:xfrm>
          <a:prstGeom prst="rect">
            <a:avLst/>
          </a:prstGeom>
          <a:noFill/>
        </p:spPr>
        <p:txBody>
          <a:bodyPr wrap="square" rtlCol="0">
            <a:spAutoFit/>
          </a:bodyPr>
          <a:lstStyle/>
          <a:p>
            <a:r>
              <a:rPr lang="en-US" dirty="0"/>
              <a:t>Water Extractable Organic Carbon (mg/kg)</a:t>
            </a:r>
          </a:p>
        </p:txBody>
      </p:sp>
      <p:sp>
        <p:nvSpPr>
          <p:cNvPr id="18" name="TextBox 17">
            <a:extLst>
              <a:ext uri="{FF2B5EF4-FFF2-40B4-BE49-F238E27FC236}">
                <a16:creationId xmlns:a16="http://schemas.microsoft.com/office/drawing/2014/main" id="{AA0D3606-6737-3509-6358-19A3338FEE25}"/>
              </a:ext>
            </a:extLst>
          </p:cNvPr>
          <p:cNvSpPr txBox="1"/>
          <p:nvPr/>
        </p:nvSpPr>
        <p:spPr>
          <a:xfrm rot="16200000">
            <a:off x="4862775" y="4182731"/>
            <a:ext cx="2757514" cy="369332"/>
          </a:xfrm>
          <a:prstGeom prst="rect">
            <a:avLst/>
          </a:prstGeom>
          <a:noFill/>
        </p:spPr>
        <p:txBody>
          <a:bodyPr wrap="square" rtlCol="0">
            <a:spAutoFit/>
          </a:bodyPr>
          <a:lstStyle/>
          <a:p>
            <a:r>
              <a:rPr lang="en-US" dirty="0"/>
              <a:t>Microbial Biomass (ug/g)</a:t>
            </a:r>
          </a:p>
        </p:txBody>
      </p:sp>
      <p:pic>
        <p:nvPicPr>
          <p:cNvPr id="19" name="Picture 18">
            <a:extLst>
              <a:ext uri="{FF2B5EF4-FFF2-40B4-BE49-F238E27FC236}">
                <a16:creationId xmlns:a16="http://schemas.microsoft.com/office/drawing/2014/main" id="{51B1832B-FBE4-5AEA-5E64-73993883F593}"/>
              </a:ext>
            </a:extLst>
          </p:cNvPr>
          <p:cNvPicPr>
            <a:picLocks noChangeAspect="1"/>
          </p:cNvPicPr>
          <p:nvPr/>
        </p:nvPicPr>
        <p:blipFill>
          <a:blip r:embed="rId6"/>
          <a:stretch>
            <a:fillRect/>
          </a:stretch>
        </p:blipFill>
        <p:spPr>
          <a:xfrm>
            <a:off x="612610" y="5110354"/>
            <a:ext cx="5028493" cy="1106700"/>
          </a:xfrm>
          <a:prstGeom prst="rect">
            <a:avLst/>
          </a:prstGeom>
        </p:spPr>
      </p:pic>
    </p:spTree>
    <p:extLst>
      <p:ext uri="{BB962C8B-B14F-4D97-AF65-F5344CB8AC3E}">
        <p14:creationId xmlns:p14="http://schemas.microsoft.com/office/powerpoint/2010/main" val="29980252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4526A7-276E-A243-07A3-BE4C61315867}"/>
              </a:ext>
            </a:extLst>
          </p:cNvPr>
          <p:cNvSpPr>
            <a:spLocks noGrp="1"/>
          </p:cNvSpPr>
          <p:nvPr>
            <p:ph type="title"/>
          </p:nvPr>
        </p:nvSpPr>
        <p:spPr>
          <a:xfrm>
            <a:off x="838200" y="245745"/>
            <a:ext cx="10515600" cy="1325563"/>
          </a:xfrm>
        </p:spPr>
        <p:txBody>
          <a:bodyPr/>
          <a:lstStyle/>
          <a:p>
            <a:r>
              <a:rPr lang="en-US" dirty="0"/>
              <a:t>Potential Explanations for inverse relationship between Respiration and Biomass</a:t>
            </a:r>
          </a:p>
        </p:txBody>
      </p:sp>
      <p:sp>
        <p:nvSpPr>
          <p:cNvPr id="3" name="Content Placeholder 2">
            <a:extLst>
              <a:ext uri="{FF2B5EF4-FFF2-40B4-BE49-F238E27FC236}">
                <a16:creationId xmlns:a16="http://schemas.microsoft.com/office/drawing/2014/main" id="{40CF7764-272A-7C64-ACCA-5C0D01360EB6}"/>
              </a:ext>
            </a:extLst>
          </p:cNvPr>
          <p:cNvSpPr>
            <a:spLocks noGrp="1"/>
          </p:cNvSpPr>
          <p:nvPr>
            <p:ph idx="1"/>
          </p:nvPr>
        </p:nvSpPr>
        <p:spPr>
          <a:xfrm>
            <a:off x="838200" y="1571308"/>
            <a:ext cx="10515600" cy="4351338"/>
          </a:xfrm>
        </p:spPr>
        <p:txBody>
          <a:bodyPr/>
          <a:lstStyle/>
          <a:p>
            <a:r>
              <a:rPr lang="en-US" dirty="0"/>
              <a:t>Biomass is not correlated to soil respiration, mineralization, and turnover. </a:t>
            </a:r>
            <a:r>
              <a:rPr lang="en-US" sz="1800" b="0" i="0" dirty="0">
                <a:solidFill>
                  <a:srgbClr val="222222"/>
                </a:solidFill>
                <a:effectLst/>
                <a:latin typeface="Arial" panose="020B0604020202020204" pitchFamily="34" charset="0"/>
              </a:rPr>
              <a:t>Wang, W.J. et al., (2003)</a:t>
            </a:r>
          </a:p>
          <a:p>
            <a:r>
              <a:rPr lang="en-US" dirty="0"/>
              <a:t>Climate Driven </a:t>
            </a:r>
            <a:r>
              <a:rPr lang="en-US" sz="1800" b="0" i="0" dirty="0">
                <a:solidFill>
                  <a:srgbClr val="222222"/>
                </a:solidFill>
                <a:effectLst/>
                <a:latin typeface="Arial" panose="020B0604020202020204" pitchFamily="34" charset="0"/>
              </a:rPr>
              <a:t>Karhu, K et al., (2006), Zhou et al., (2017)</a:t>
            </a:r>
          </a:p>
          <a:p>
            <a:pPr marL="0" indent="0">
              <a:buNone/>
            </a:pPr>
            <a:endParaRPr lang="en-US" sz="1800" dirty="0"/>
          </a:p>
        </p:txBody>
      </p:sp>
      <p:graphicFrame>
        <p:nvGraphicFramePr>
          <p:cNvPr id="6" name="Table 5">
            <a:extLst>
              <a:ext uri="{FF2B5EF4-FFF2-40B4-BE49-F238E27FC236}">
                <a16:creationId xmlns:a16="http://schemas.microsoft.com/office/drawing/2014/main" id="{D0E1F07F-30AE-8EE9-A613-5391108A7A0F}"/>
              </a:ext>
            </a:extLst>
          </p:cNvPr>
          <p:cNvGraphicFramePr>
            <a:graphicFrameLocks noGrp="1"/>
          </p:cNvGraphicFramePr>
          <p:nvPr>
            <p:extLst>
              <p:ext uri="{D42A27DB-BD31-4B8C-83A1-F6EECF244321}">
                <p14:modId xmlns:p14="http://schemas.microsoft.com/office/powerpoint/2010/main" val="3023968427"/>
              </p:ext>
            </p:extLst>
          </p:nvPr>
        </p:nvGraphicFramePr>
        <p:xfrm>
          <a:off x="39188" y="4152827"/>
          <a:ext cx="12113623" cy="2219960"/>
        </p:xfrm>
        <a:graphic>
          <a:graphicData uri="http://schemas.openxmlformats.org/drawingml/2006/table">
            <a:tbl>
              <a:tblPr/>
              <a:tblGrid>
                <a:gridCol w="2588509">
                  <a:extLst>
                    <a:ext uri="{9D8B030D-6E8A-4147-A177-3AD203B41FA5}">
                      <a16:colId xmlns:a16="http://schemas.microsoft.com/office/drawing/2014/main" val="3579075773"/>
                    </a:ext>
                  </a:extLst>
                </a:gridCol>
                <a:gridCol w="1238909">
                  <a:extLst>
                    <a:ext uri="{9D8B030D-6E8A-4147-A177-3AD203B41FA5}">
                      <a16:colId xmlns:a16="http://schemas.microsoft.com/office/drawing/2014/main" val="1083304867"/>
                    </a:ext>
                  </a:extLst>
                </a:gridCol>
                <a:gridCol w="1907533">
                  <a:extLst>
                    <a:ext uri="{9D8B030D-6E8A-4147-A177-3AD203B41FA5}">
                      <a16:colId xmlns:a16="http://schemas.microsoft.com/office/drawing/2014/main" val="4051127184"/>
                    </a:ext>
                  </a:extLst>
                </a:gridCol>
                <a:gridCol w="1567187">
                  <a:extLst>
                    <a:ext uri="{9D8B030D-6E8A-4147-A177-3AD203B41FA5}">
                      <a16:colId xmlns:a16="http://schemas.microsoft.com/office/drawing/2014/main" val="2712941097"/>
                    </a:ext>
                  </a:extLst>
                </a:gridCol>
                <a:gridCol w="1907176">
                  <a:extLst>
                    <a:ext uri="{9D8B030D-6E8A-4147-A177-3AD203B41FA5}">
                      <a16:colId xmlns:a16="http://schemas.microsoft.com/office/drawing/2014/main" val="2867268874"/>
                    </a:ext>
                  </a:extLst>
                </a:gridCol>
                <a:gridCol w="2904309">
                  <a:extLst>
                    <a:ext uri="{9D8B030D-6E8A-4147-A177-3AD203B41FA5}">
                      <a16:colId xmlns:a16="http://schemas.microsoft.com/office/drawing/2014/main" val="1040942489"/>
                    </a:ext>
                  </a:extLst>
                </a:gridCol>
              </a:tblGrid>
              <a:tr h="330455">
                <a:tc>
                  <a:txBody>
                    <a:bodyPr/>
                    <a:lstStyle/>
                    <a:p>
                      <a:pPr algn="ctr" fontAlgn="b"/>
                      <a:endParaRPr lang="en-US" sz="2800" b="0" i="0" u="none" strike="noStrike" dirty="0">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algn="ctr" fontAlgn="b"/>
                      <a:r>
                        <a:rPr lang="en-US" sz="2400" b="1" i="0" u="none" strike="noStrike" dirty="0">
                          <a:solidFill>
                            <a:srgbClr val="000000"/>
                          </a:solidFill>
                          <a:effectLst/>
                          <a:latin typeface="Calibri" panose="020F0502020204030204" pitchFamily="34" charset="0"/>
                        </a:rPr>
                        <a:t>Air Temperature (°F)</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gridSpan="2">
                  <a:txBody>
                    <a:bodyPr/>
                    <a:lstStyle/>
                    <a:p>
                      <a:pPr algn="ctr" fontAlgn="b"/>
                      <a:r>
                        <a:rPr lang="en-US" sz="2400" b="1" i="0" u="none" strike="noStrike" dirty="0">
                          <a:solidFill>
                            <a:srgbClr val="000000"/>
                          </a:solidFill>
                          <a:effectLst/>
                          <a:latin typeface="Calibri" panose="020F0502020204030204" pitchFamily="34" charset="0"/>
                        </a:rPr>
                        <a:t>Soil Temperature (°F)</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a:txBody>
                    <a:bodyPr/>
                    <a:lstStyle/>
                    <a:p>
                      <a:pPr algn="ctr" fontAlgn="b"/>
                      <a:r>
                        <a:rPr lang="en-US" sz="2400" b="1" i="0" u="none" strike="noStrike" dirty="0">
                          <a:solidFill>
                            <a:srgbClr val="000000"/>
                          </a:solidFill>
                          <a:effectLst/>
                          <a:latin typeface="Calibri" panose="020F0502020204030204" pitchFamily="34" charset="0"/>
                        </a:rPr>
                        <a:t>Total Precipitation (inches)</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57333958"/>
                  </a:ext>
                </a:extLst>
              </a:tr>
              <a:tr h="676328">
                <a:tc>
                  <a:txBody>
                    <a:bodyPr/>
                    <a:lstStyle/>
                    <a:p>
                      <a:pPr algn="ctr" fontAlgn="b"/>
                      <a:endParaRPr lang="en-US" sz="2800" b="1" i="0" u="none" strike="noStrike" dirty="0">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2400" b="0" i="0" u="none" strike="noStrike" dirty="0">
                          <a:solidFill>
                            <a:srgbClr val="000000"/>
                          </a:solidFill>
                          <a:effectLst/>
                          <a:latin typeface="Calibri" panose="020F0502020204030204" pitchFamily="34" charset="0"/>
                        </a:rPr>
                        <a:t>Average</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2400" b="0" i="0" u="none" strike="noStrike" dirty="0">
                          <a:solidFill>
                            <a:srgbClr val="000000"/>
                          </a:solidFill>
                          <a:effectLst/>
                          <a:latin typeface="Calibri" panose="020F0502020204030204" pitchFamily="34" charset="0"/>
                        </a:rPr>
                        <a:t>Average Difference</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2400" b="0" i="0" u="none" strike="noStrike" dirty="0">
                          <a:solidFill>
                            <a:srgbClr val="000000"/>
                          </a:solidFill>
                          <a:effectLst/>
                          <a:latin typeface="Calibri" panose="020F0502020204030204" pitchFamily="34" charset="0"/>
                        </a:rPr>
                        <a:t>Average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2400" b="0" i="0" u="none" strike="noStrike" dirty="0">
                          <a:solidFill>
                            <a:srgbClr val="000000"/>
                          </a:solidFill>
                          <a:effectLst/>
                          <a:latin typeface="Calibri" panose="020F0502020204030204" pitchFamily="34" charset="0"/>
                        </a:rPr>
                        <a:t>Average Difference</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endParaRPr lang="en-US" sz="2400" b="0" i="0" u="none" strike="noStrike" dirty="0">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71088792"/>
                  </a:ext>
                </a:extLst>
              </a:tr>
              <a:tr h="364563">
                <a:tc>
                  <a:txBody>
                    <a:bodyPr/>
                    <a:lstStyle/>
                    <a:p>
                      <a:pPr algn="ctr" fontAlgn="b"/>
                      <a:r>
                        <a:rPr lang="en-US" sz="2400" b="1" i="0" u="none" strike="noStrike" dirty="0">
                          <a:solidFill>
                            <a:srgbClr val="000000"/>
                          </a:solidFill>
                          <a:effectLst/>
                          <a:latin typeface="Calibri" panose="020F0502020204030204" pitchFamily="34" charset="0"/>
                        </a:rPr>
                        <a:t>Oct 20</a:t>
                      </a:r>
                      <a:r>
                        <a:rPr lang="en-US" sz="2400" b="1" i="0" u="none" strike="noStrike" baseline="30000" dirty="0">
                          <a:solidFill>
                            <a:srgbClr val="000000"/>
                          </a:solidFill>
                          <a:effectLst/>
                          <a:latin typeface="Calibri" panose="020F0502020204030204" pitchFamily="34" charset="0"/>
                        </a:rPr>
                        <a:t>th </a:t>
                      </a:r>
                      <a:r>
                        <a:rPr lang="en-US" sz="2400" b="1" i="0" u="none" strike="noStrike" dirty="0">
                          <a:solidFill>
                            <a:srgbClr val="000000"/>
                          </a:solidFill>
                          <a:effectLst/>
                          <a:latin typeface="Calibri" panose="020F0502020204030204" pitchFamily="34" charset="0"/>
                        </a:rPr>
                        <a:t>- Nov 20</a:t>
                      </a:r>
                      <a:r>
                        <a:rPr lang="en-US" sz="2400" b="1" i="0" u="none" strike="noStrike" baseline="30000" dirty="0">
                          <a:solidFill>
                            <a:srgbClr val="000000"/>
                          </a:solidFill>
                          <a:effectLst/>
                          <a:latin typeface="Calibri" panose="020F0502020204030204" pitchFamily="34" charset="0"/>
                        </a:rPr>
                        <a:t>th</a:t>
                      </a:r>
                      <a:r>
                        <a:rPr lang="en-US" sz="2400" b="1" i="0" u="none" strike="noStrike" dirty="0">
                          <a:solidFill>
                            <a:srgbClr val="000000"/>
                          </a:solidFill>
                          <a:effectLst/>
                          <a:latin typeface="Calibri" panose="020F050202020403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2400" b="0" i="0" u="none" strike="noStrike" dirty="0">
                          <a:solidFill>
                            <a:srgbClr val="000000"/>
                          </a:solidFill>
                          <a:effectLst/>
                          <a:latin typeface="Calibri" panose="020F0502020204030204" pitchFamily="34" charset="0"/>
                        </a:rPr>
                        <a:t>51.50</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2400" b="0" i="0" u="none" strike="noStrike" dirty="0">
                          <a:solidFill>
                            <a:srgbClr val="000000"/>
                          </a:solidFill>
                          <a:effectLst/>
                          <a:latin typeface="Calibri" panose="020F0502020204030204" pitchFamily="34" charset="0"/>
                        </a:rPr>
                        <a:t>-0.75</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2400" b="0" i="0" u="none" strike="noStrike" dirty="0">
                          <a:solidFill>
                            <a:srgbClr val="000000"/>
                          </a:solidFill>
                          <a:effectLst/>
                          <a:latin typeface="Calibri" panose="020F0502020204030204" pitchFamily="34" charset="0"/>
                        </a:rPr>
                        <a:t>52.73</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2400" b="0" i="0" u="none" strike="noStrike" dirty="0">
                          <a:solidFill>
                            <a:srgbClr val="000000"/>
                          </a:solidFill>
                          <a:effectLst/>
                          <a:latin typeface="Calibri" panose="020F0502020204030204" pitchFamily="34" charset="0"/>
                        </a:rPr>
                        <a:t>-0.33</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2400" b="0" i="0" u="none" strike="noStrike">
                          <a:solidFill>
                            <a:srgbClr val="000000"/>
                          </a:solidFill>
                          <a:effectLst/>
                          <a:latin typeface="Calibri" panose="020F0502020204030204" pitchFamily="34" charset="0"/>
                        </a:rPr>
                        <a:t>1.17</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52151279"/>
                  </a:ext>
                </a:extLst>
              </a:tr>
              <a:tr h="364563">
                <a:tc>
                  <a:txBody>
                    <a:bodyPr/>
                    <a:lstStyle/>
                    <a:p>
                      <a:pPr algn="ctr" fontAlgn="b"/>
                      <a:r>
                        <a:rPr lang="en-US" sz="2400" b="1" i="0" u="none" strike="noStrike" dirty="0">
                          <a:solidFill>
                            <a:srgbClr val="000000"/>
                          </a:solidFill>
                          <a:effectLst/>
                          <a:latin typeface="Calibri" panose="020F0502020204030204" pitchFamily="34" charset="0"/>
                        </a:rPr>
                        <a:t>Mar 8</a:t>
                      </a:r>
                      <a:r>
                        <a:rPr lang="en-US" sz="2400" b="1" i="0" u="none" strike="noStrike" baseline="30000" dirty="0">
                          <a:solidFill>
                            <a:srgbClr val="000000"/>
                          </a:solidFill>
                          <a:effectLst/>
                          <a:latin typeface="Calibri" panose="020F0502020204030204" pitchFamily="34" charset="0"/>
                        </a:rPr>
                        <a:t>th</a:t>
                      </a:r>
                      <a:r>
                        <a:rPr lang="en-US" sz="2400" b="1" i="0" u="none" strike="noStrike" dirty="0">
                          <a:solidFill>
                            <a:srgbClr val="000000"/>
                          </a:solidFill>
                          <a:effectLst/>
                          <a:latin typeface="Calibri" panose="020F0502020204030204" pitchFamily="34" charset="0"/>
                        </a:rPr>
                        <a:t> – Apr 8</a:t>
                      </a:r>
                      <a:r>
                        <a:rPr lang="en-US" sz="2400" b="1" i="0" u="none" strike="noStrike" baseline="30000" dirty="0">
                          <a:solidFill>
                            <a:srgbClr val="000000"/>
                          </a:solidFill>
                          <a:effectLst/>
                          <a:latin typeface="Calibri" panose="020F0502020204030204" pitchFamily="34" charset="0"/>
                        </a:rPr>
                        <a:t>th</a:t>
                      </a:r>
                      <a:r>
                        <a:rPr lang="en-US" sz="2400" b="1" i="0" u="none" strike="noStrike" dirty="0">
                          <a:solidFill>
                            <a:srgbClr val="000000"/>
                          </a:solidFill>
                          <a:effectLst/>
                          <a:latin typeface="Calibri" panose="020F050202020403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2400" b="0" i="0" u="none" strike="noStrike">
                          <a:solidFill>
                            <a:srgbClr val="000000"/>
                          </a:solidFill>
                          <a:effectLst/>
                          <a:latin typeface="Calibri" panose="020F0502020204030204" pitchFamily="34" charset="0"/>
                        </a:rPr>
                        <a:t>47.09</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2400" b="0" i="0" u="none" strike="noStrike">
                          <a:solidFill>
                            <a:srgbClr val="000000"/>
                          </a:solidFill>
                          <a:effectLst/>
                          <a:latin typeface="Calibri" panose="020F0502020204030204" pitchFamily="34" charset="0"/>
                        </a:rPr>
                        <a:t>0.46</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2400" b="0" i="0" u="none" strike="noStrike" dirty="0">
                          <a:solidFill>
                            <a:srgbClr val="000000"/>
                          </a:solidFill>
                          <a:effectLst/>
                          <a:latin typeface="Calibri" panose="020F0502020204030204" pitchFamily="34" charset="0"/>
                        </a:rPr>
                        <a:t>45.74</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2400" b="0" i="0" u="none" strike="noStrike" dirty="0">
                          <a:solidFill>
                            <a:srgbClr val="000000"/>
                          </a:solidFill>
                          <a:effectLst/>
                          <a:latin typeface="Calibri" panose="020F0502020204030204" pitchFamily="34" charset="0"/>
                        </a:rPr>
                        <a:t>0.20</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2400" b="0" i="0" u="none" strike="noStrike" dirty="0">
                          <a:solidFill>
                            <a:srgbClr val="000000"/>
                          </a:solidFill>
                          <a:effectLst/>
                          <a:latin typeface="Calibri" panose="020F0502020204030204" pitchFamily="34" charset="0"/>
                        </a:rPr>
                        <a:t>1.37</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61291338"/>
                  </a:ext>
                </a:extLst>
              </a:tr>
            </a:tbl>
          </a:graphicData>
        </a:graphic>
      </p:graphicFrame>
      <p:sp>
        <p:nvSpPr>
          <p:cNvPr id="7" name="TextBox 6">
            <a:extLst>
              <a:ext uri="{FF2B5EF4-FFF2-40B4-BE49-F238E27FC236}">
                <a16:creationId xmlns:a16="http://schemas.microsoft.com/office/drawing/2014/main" id="{35083322-FE7D-7E41-CFFB-22755D17855C}"/>
              </a:ext>
            </a:extLst>
          </p:cNvPr>
          <p:cNvSpPr txBox="1"/>
          <p:nvPr/>
        </p:nvSpPr>
        <p:spPr>
          <a:xfrm>
            <a:off x="1061545" y="3087903"/>
            <a:ext cx="10920247" cy="1077218"/>
          </a:xfrm>
          <a:prstGeom prst="rect">
            <a:avLst/>
          </a:prstGeom>
          <a:noFill/>
        </p:spPr>
        <p:txBody>
          <a:bodyPr wrap="square" rtlCol="0">
            <a:spAutoFit/>
          </a:bodyPr>
          <a:lstStyle/>
          <a:p>
            <a:pPr algn="ctr"/>
            <a:r>
              <a:rPr lang="en-US" sz="3600" dirty="0"/>
              <a:t>KSU </a:t>
            </a:r>
            <a:r>
              <a:rPr lang="en-US" sz="3600" dirty="0" err="1"/>
              <a:t>Mesonet</a:t>
            </a:r>
            <a:r>
              <a:rPr lang="en-US" sz="3600" dirty="0"/>
              <a:t> Data 1 Month Prior to Soil Sampling Periods</a:t>
            </a:r>
          </a:p>
          <a:p>
            <a:pPr algn="ctr"/>
            <a:r>
              <a:rPr lang="en-US" sz="2800" dirty="0"/>
              <a:t>Corning 2NW</a:t>
            </a:r>
          </a:p>
        </p:txBody>
      </p:sp>
    </p:spTree>
    <p:extLst>
      <p:ext uri="{BB962C8B-B14F-4D97-AF65-F5344CB8AC3E}">
        <p14:creationId xmlns:p14="http://schemas.microsoft.com/office/powerpoint/2010/main" val="42217471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09E206-9E9F-DE4B-B527-3543D70A2906}"/>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D8B66868-B614-5DFC-1C99-8E0413EFCD16}"/>
              </a:ext>
            </a:extLst>
          </p:cNvPr>
          <p:cNvSpPr>
            <a:spLocks noGrp="1"/>
          </p:cNvSpPr>
          <p:nvPr>
            <p:ph idx="1"/>
          </p:nvPr>
        </p:nvSpPr>
        <p:spPr/>
        <p:txBody>
          <a:bodyPr>
            <a:normAutofit fontScale="85000" lnSpcReduction="10000"/>
          </a:bodyPr>
          <a:lstStyle/>
          <a:p>
            <a:r>
              <a:rPr lang="en-US" b="0" i="0" dirty="0">
                <a:solidFill>
                  <a:srgbClr val="222222"/>
                </a:solidFill>
                <a:effectLst/>
                <a:latin typeface="Arial" panose="020B0604020202020204" pitchFamily="34" charset="0"/>
              </a:rPr>
              <a:t>Wang, W.J., Dalal, R.C., Moody, P.W. and Smith, C.J., 2003. Relationships of soil respiration to microbial biomass, substrate availability and clay content. </a:t>
            </a:r>
            <a:r>
              <a:rPr lang="en-US" b="0" i="1" dirty="0">
                <a:solidFill>
                  <a:srgbClr val="222222"/>
                </a:solidFill>
                <a:effectLst/>
                <a:latin typeface="Arial" panose="020B0604020202020204" pitchFamily="34" charset="0"/>
              </a:rPr>
              <a:t>Soil biology and biochemistry</a:t>
            </a:r>
            <a:r>
              <a:rPr lang="en-US" b="0" i="0" dirty="0">
                <a:solidFill>
                  <a:srgbClr val="222222"/>
                </a:solidFill>
                <a:effectLst/>
                <a:latin typeface="Arial" panose="020B0604020202020204" pitchFamily="34" charset="0"/>
              </a:rPr>
              <a:t>, </a:t>
            </a:r>
            <a:r>
              <a:rPr lang="en-US" b="0" i="1" dirty="0">
                <a:solidFill>
                  <a:srgbClr val="222222"/>
                </a:solidFill>
                <a:effectLst/>
                <a:latin typeface="Arial" panose="020B0604020202020204" pitchFamily="34" charset="0"/>
              </a:rPr>
              <a:t>35</a:t>
            </a:r>
            <a:r>
              <a:rPr lang="en-US" b="0" i="0" dirty="0">
                <a:solidFill>
                  <a:srgbClr val="222222"/>
                </a:solidFill>
                <a:effectLst/>
                <a:latin typeface="Arial" panose="020B0604020202020204" pitchFamily="34" charset="0"/>
              </a:rPr>
              <a:t>(2), pp.273-284.</a:t>
            </a:r>
          </a:p>
          <a:p>
            <a:r>
              <a:rPr lang="en-US" sz="2800" b="0" i="0" dirty="0" err="1">
                <a:solidFill>
                  <a:srgbClr val="222222"/>
                </a:solidFill>
                <a:effectLst/>
                <a:latin typeface="Arial" panose="020B0604020202020204" pitchFamily="34" charset="0"/>
              </a:rPr>
              <a:t>Foissner</a:t>
            </a:r>
            <a:r>
              <a:rPr lang="en-US" sz="2800" b="0" i="0" dirty="0">
                <a:solidFill>
                  <a:srgbClr val="222222"/>
                </a:solidFill>
                <a:effectLst/>
                <a:latin typeface="Arial" panose="020B0604020202020204" pitchFamily="34" charset="0"/>
              </a:rPr>
              <a:t>, W., 1999. Soil protozoa as bioindicators: pros and cons, methods, diversity, representative examples. In </a:t>
            </a:r>
            <a:r>
              <a:rPr lang="en-US" sz="2800" b="0" i="1" dirty="0">
                <a:solidFill>
                  <a:srgbClr val="222222"/>
                </a:solidFill>
                <a:effectLst/>
                <a:latin typeface="Arial" panose="020B0604020202020204" pitchFamily="34" charset="0"/>
              </a:rPr>
              <a:t>Invertebrate Biodiversity as Bioindicators of Sustainable Landscapes</a:t>
            </a:r>
            <a:r>
              <a:rPr lang="en-US" sz="2800" b="0" i="0" dirty="0">
                <a:solidFill>
                  <a:srgbClr val="222222"/>
                </a:solidFill>
                <a:effectLst/>
                <a:latin typeface="Arial" panose="020B0604020202020204" pitchFamily="34" charset="0"/>
              </a:rPr>
              <a:t> (pp. 95-112). Elsevier.</a:t>
            </a:r>
          </a:p>
          <a:p>
            <a:r>
              <a:rPr lang="en-US" b="0" i="0" dirty="0">
                <a:solidFill>
                  <a:srgbClr val="222222"/>
                </a:solidFill>
                <a:effectLst/>
                <a:latin typeface="Arial" panose="020B0604020202020204" pitchFamily="34" charset="0"/>
              </a:rPr>
              <a:t>Karhu, K., </a:t>
            </a:r>
            <a:r>
              <a:rPr lang="en-US" b="0" i="0" dirty="0" err="1">
                <a:solidFill>
                  <a:srgbClr val="222222"/>
                </a:solidFill>
                <a:effectLst/>
                <a:latin typeface="Arial" panose="020B0604020202020204" pitchFamily="34" charset="0"/>
              </a:rPr>
              <a:t>Auffret</a:t>
            </a:r>
            <a:r>
              <a:rPr lang="en-US" b="0" i="0" dirty="0">
                <a:solidFill>
                  <a:srgbClr val="222222"/>
                </a:solidFill>
                <a:effectLst/>
                <a:latin typeface="Arial" panose="020B0604020202020204" pitchFamily="34" charset="0"/>
              </a:rPr>
              <a:t>, M.D., </a:t>
            </a:r>
            <a:r>
              <a:rPr lang="en-US" b="0" i="0" dirty="0" err="1">
                <a:solidFill>
                  <a:srgbClr val="222222"/>
                </a:solidFill>
                <a:effectLst/>
                <a:latin typeface="Arial" panose="020B0604020202020204" pitchFamily="34" charset="0"/>
              </a:rPr>
              <a:t>Dungait</a:t>
            </a:r>
            <a:r>
              <a:rPr lang="en-US" b="0" i="0" dirty="0">
                <a:solidFill>
                  <a:srgbClr val="222222"/>
                </a:solidFill>
                <a:effectLst/>
                <a:latin typeface="Arial" panose="020B0604020202020204" pitchFamily="34" charset="0"/>
              </a:rPr>
              <a:t>, J.A., Hopkins, D.W., Prosser, J.I., Singh, B.K., </a:t>
            </a:r>
            <a:r>
              <a:rPr lang="en-US" b="0" i="0" dirty="0" err="1">
                <a:solidFill>
                  <a:srgbClr val="222222"/>
                </a:solidFill>
                <a:effectLst/>
                <a:latin typeface="Arial" panose="020B0604020202020204" pitchFamily="34" charset="0"/>
              </a:rPr>
              <a:t>Subke</a:t>
            </a:r>
            <a:r>
              <a:rPr lang="en-US" b="0" i="0" dirty="0">
                <a:solidFill>
                  <a:srgbClr val="222222"/>
                </a:solidFill>
                <a:effectLst/>
                <a:latin typeface="Arial" panose="020B0604020202020204" pitchFamily="34" charset="0"/>
              </a:rPr>
              <a:t>, J.A., </a:t>
            </a:r>
            <a:r>
              <a:rPr lang="en-US" b="0" i="0" dirty="0" err="1">
                <a:solidFill>
                  <a:srgbClr val="222222"/>
                </a:solidFill>
                <a:effectLst/>
                <a:latin typeface="Arial" panose="020B0604020202020204" pitchFamily="34" charset="0"/>
              </a:rPr>
              <a:t>Wookey</a:t>
            </a:r>
            <a:r>
              <a:rPr lang="en-US" b="0" i="0" dirty="0">
                <a:solidFill>
                  <a:srgbClr val="222222"/>
                </a:solidFill>
                <a:effectLst/>
                <a:latin typeface="Arial" panose="020B0604020202020204" pitchFamily="34" charset="0"/>
              </a:rPr>
              <a:t>, P.A., </a:t>
            </a:r>
            <a:r>
              <a:rPr lang="en-US" b="0" i="0" dirty="0" err="1">
                <a:solidFill>
                  <a:srgbClr val="222222"/>
                </a:solidFill>
                <a:effectLst/>
                <a:latin typeface="Arial" panose="020B0604020202020204" pitchFamily="34" charset="0"/>
              </a:rPr>
              <a:t>Ågren</a:t>
            </a:r>
            <a:r>
              <a:rPr lang="en-US" b="0" i="0" dirty="0">
                <a:solidFill>
                  <a:srgbClr val="222222"/>
                </a:solidFill>
                <a:effectLst/>
                <a:latin typeface="Arial" panose="020B0604020202020204" pitchFamily="34" charset="0"/>
              </a:rPr>
              <a:t>, G.I., </a:t>
            </a:r>
            <a:r>
              <a:rPr lang="en-US" b="0" i="0" dirty="0" err="1">
                <a:solidFill>
                  <a:srgbClr val="222222"/>
                </a:solidFill>
                <a:effectLst/>
                <a:latin typeface="Arial" panose="020B0604020202020204" pitchFamily="34" charset="0"/>
              </a:rPr>
              <a:t>Sebastia</a:t>
            </a:r>
            <a:r>
              <a:rPr lang="en-US" b="0" i="0" dirty="0">
                <a:solidFill>
                  <a:srgbClr val="222222"/>
                </a:solidFill>
                <a:effectLst/>
                <a:latin typeface="Arial" panose="020B0604020202020204" pitchFamily="34" charset="0"/>
              </a:rPr>
              <a:t>, M.T. and </a:t>
            </a:r>
            <a:r>
              <a:rPr lang="en-US" b="0" i="0" dirty="0" err="1">
                <a:solidFill>
                  <a:srgbClr val="222222"/>
                </a:solidFill>
                <a:effectLst/>
                <a:latin typeface="Arial" panose="020B0604020202020204" pitchFamily="34" charset="0"/>
              </a:rPr>
              <a:t>Gouriveau</a:t>
            </a:r>
            <a:r>
              <a:rPr lang="en-US" b="0" i="0" dirty="0">
                <a:solidFill>
                  <a:srgbClr val="222222"/>
                </a:solidFill>
                <a:effectLst/>
                <a:latin typeface="Arial" panose="020B0604020202020204" pitchFamily="34" charset="0"/>
              </a:rPr>
              <a:t>, F., 2014. Temperature sensitivity of soil respiration rates enhanced by microbial community response. </a:t>
            </a:r>
            <a:r>
              <a:rPr lang="en-US" b="0" i="1" dirty="0">
                <a:solidFill>
                  <a:srgbClr val="222222"/>
                </a:solidFill>
                <a:effectLst/>
                <a:latin typeface="Arial" panose="020B0604020202020204" pitchFamily="34" charset="0"/>
              </a:rPr>
              <a:t>Nature</a:t>
            </a:r>
            <a:r>
              <a:rPr lang="en-US" b="0" i="0" dirty="0">
                <a:solidFill>
                  <a:srgbClr val="222222"/>
                </a:solidFill>
                <a:effectLst/>
                <a:latin typeface="Arial" panose="020B0604020202020204" pitchFamily="34" charset="0"/>
              </a:rPr>
              <a:t>, </a:t>
            </a:r>
            <a:r>
              <a:rPr lang="en-US" b="0" i="1" dirty="0">
                <a:solidFill>
                  <a:srgbClr val="222222"/>
                </a:solidFill>
                <a:effectLst/>
                <a:latin typeface="Arial" panose="020B0604020202020204" pitchFamily="34" charset="0"/>
              </a:rPr>
              <a:t>513</a:t>
            </a:r>
            <a:r>
              <a:rPr lang="en-US" b="0" i="0" dirty="0">
                <a:solidFill>
                  <a:srgbClr val="222222"/>
                </a:solidFill>
                <a:effectLst/>
                <a:latin typeface="Arial" panose="020B0604020202020204" pitchFamily="34" charset="0"/>
              </a:rPr>
              <a:t>(7516), pp.81-84.</a:t>
            </a:r>
          </a:p>
          <a:p>
            <a:r>
              <a:rPr lang="en-US" b="0" i="0" dirty="0">
                <a:solidFill>
                  <a:srgbClr val="222222"/>
                </a:solidFill>
                <a:effectLst/>
                <a:latin typeface="Arial" panose="020B0604020202020204" pitchFamily="34" charset="0"/>
              </a:rPr>
              <a:t>Zhou, W.P., Shen, W.J., Li, Y.E. and Hui, D.F., 2017. Interactive effects of temperature and moisture on composition of the soil microbial community. </a:t>
            </a:r>
            <a:r>
              <a:rPr lang="en-US" b="0" i="1" dirty="0">
                <a:solidFill>
                  <a:srgbClr val="222222"/>
                </a:solidFill>
                <a:effectLst/>
                <a:latin typeface="Arial" panose="020B0604020202020204" pitchFamily="34" charset="0"/>
              </a:rPr>
              <a:t>European Journal of Soil Science</a:t>
            </a:r>
            <a:r>
              <a:rPr lang="en-US" b="0" i="0" dirty="0">
                <a:solidFill>
                  <a:srgbClr val="222222"/>
                </a:solidFill>
                <a:effectLst/>
                <a:latin typeface="Arial" panose="020B0604020202020204" pitchFamily="34" charset="0"/>
              </a:rPr>
              <a:t>, </a:t>
            </a:r>
            <a:r>
              <a:rPr lang="en-US" b="0" i="1" dirty="0">
                <a:solidFill>
                  <a:srgbClr val="222222"/>
                </a:solidFill>
                <a:effectLst/>
                <a:latin typeface="Arial" panose="020B0604020202020204" pitchFamily="34" charset="0"/>
              </a:rPr>
              <a:t>68</a:t>
            </a:r>
            <a:r>
              <a:rPr lang="en-US" b="0" i="0" dirty="0">
                <a:solidFill>
                  <a:srgbClr val="222222"/>
                </a:solidFill>
                <a:effectLst/>
                <a:latin typeface="Arial" panose="020B0604020202020204" pitchFamily="34" charset="0"/>
              </a:rPr>
              <a:t>(6), pp.909-918.</a:t>
            </a:r>
            <a:endParaRPr lang="en-US" sz="2800" dirty="0"/>
          </a:p>
          <a:p>
            <a:endParaRPr lang="en-US" dirty="0"/>
          </a:p>
        </p:txBody>
      </p:sp>
    </p:spTree>
    <p:extLst>
      <p:ext uri="{BB962C8B-B14F-4D97-AF65-F5344CB8AC3E}">
        <p14:creationId xmlns:p14="http://schemas.microsoft.com/office/powerpoint/2010/main" val="29636383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19899</TotalTime>
  <Words>704</Words>
  <Application>Microsoft Office PowerPoint</Application>
  <PresentationFormat>Widescreen</PresentationFormat>
  <Paragraphs>80</Paragraphs>
  <Slides>17</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Calibri Light</vt:lpstr>
      <vt:lpstr>Office Theme</vt:lpstr>
      <vt:lpstr>PowerPoint Presentation</vt:lpstr>
      <vt:lpstr>Biological Properties</vt:lpstr>
      <vt:lpstr>Biological Properties</vt:lpstr>
      <vt:lpstr>Chemical Properties</vt:lpstr>
      <vt:lpstr>Water Extracts</vt:lpstr>
      <vt:lpstr>PowerPoint Presentation</vt:lpstr>
      <vt:lpstr>Water Extractable C:N and Nitrogen Mineralization</vt:lpstr>
      <vt:lpstr>H3A Nitrogen</vt:lpstr>
      <vt:lpstr>H3A Phosphorous</vt:lpstr>
      <vt:lpstr>PLFA Data</vt:lpstr>
      <vt:lpstr>PLFA: Gram(–) Biomass and Gram(+) Biomass</vt:lpstr>
      <vt:lpstr>PLFA: Protozoa Biomass </vt:lpstr>
      <vt:lpstr>PLFA: Bacterial and Fungal Biomass</vt:lpstr>
      <vt:lpstr>PLFA: Microbial Biomass and Electrical Conductivity </vt:lpstr>
      <vt:lpstr>PLFA: Microbial Biomass and Respiration</vt:lpstr>
      <vt:lpstr>Potential Explanations for inverse relationship between Respiration and Biomass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Wang, Lena</dc:creator>
  <cp:lastModifiedBy>Wang, Lena</cp:lastModifiedBy>
  <cp:revision>3</cp:revision>
  <cp:lastPrinted>2024-05-07T23:06:39Z</cp:lastPrinted>
  <dcterms:created xsi:type="dcterms:W3CDTF">2024-03-27T20:31:53Z</dcterms:created>
  <dcterms:modified xsi:type="dcterms:W3CDTF">2024-06-27T19:11:29Z</dcterms:modified>
</cp:coreProperties>
</file>